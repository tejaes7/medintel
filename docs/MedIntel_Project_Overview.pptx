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opens.</a:t>
            </a:r>
          </a:p>
          <a:p/>
          <a:p>
            <a:r>
              <a:t>'Good morning. Our project is MedIntel, an AI-powered medical assistant.</a:t>
            </a:r>
          </a:p>
          <a:p>
            <a:r>
              <a:t>The one line to remember: MedIntel is clinical decision SUPPORT, not a diagnosis and not a replacement for a doctor. That constraint is not a disclaimer we bolted on at the end — you will see it drive our actual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a:t>
            </a:r>
          </a:p>
          <a:p>
            <a:r>
              <a:t>Walk the four gaps. Land the last line: these are four separate problems today, and no single tool joins them up. Do not invent statistics if asked — say it is based on common observation and secondary reading.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a:t>
            </a:r>
          </a:p>
          <a:p>
            <a:r>
              <a:t>This slide wins marks. Say: 'Defining what the system refuses to do is itself an architectural constraint. Because we can never guarantee a language model is correct, we never place it alone on a safety-critical path — Member 3 will show the deterministic rules engine that sits in front of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closes here and hands to MEMBER 2.</a:t>
            </a:r>
          </a:p>
          <a:p>
            <a:r>
              <a:t>Six modules, all in scope for V1. Note the numbering — it maps one-to-one onto the Business Logic Layer components Member 2 shows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begins.</a:t>
            </a:r>
          </a:p>
          <a:p>
            <a:r>
              <a:t>'Every row has a *why*. In an architecture review the choice matters less than the justification.' Be ready for: 'Why Node and not Java/Python?' — our workload is I/O-bound: most request time is spent waiting on the AI API and the database, not computing. Node's non-blocking event loop handles many concurrent waiting requests on modest hardware, and one JavaScript language across the stack suits a four-person team on a semester deadline.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 core slide.</a:t>
            </a:r>
          </a:p>
          <a:p>
            <a:r>
              <a:t>'We chose a layered architecture. Two rules make it real: strict downward dependency — a layer may only call the one beneath it — and no layer may skip a layer. The React client physically cannot reach MongoDB; it does not even know MongoDB exists. Cross-cutting concerns run vertically as Express middleware.'</a:t>
            </a:r>
          </a:p>
          <a:p/>
          <a:p>
            <a:r>
              <a:t>If asked why not microservices: see our ADR-01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a:t>
            </a:r>
          </a:p>
          <a:p>
            <a:r>
              <a:t>Read the 'must never' column aloud — that is what enforces the architecture. A layered diagram anyone can draw; the discipline is in the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closes here.</a:t>
            </a:r>
          </a:p>
          <a:p>
            <a:r>
              <a:t>'This is the folder structure we will actually build. Each business component is a self-contained module — that is deliberate: it gives us clean seams if we ever extract a service later, which is exactly what ADR-01 depends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begins.</a:t>
            </a:r>
          </a:p>
          <a:p>
            <a:r>
              <a:t>'This is the end-to-end path of a single request.' Walk 1→8 in order. The two callouts matter: step 3 can terminate the whole flow without ever calling the AI, and step 7 writes to the database BEFORE responding, so history is never lost if the client drops. Target: p95 under 3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 the strongest technical slide, spend time here.</a:t>
            </a:r>
          </a:p>
          <a:p>
            <a:r>
              <a:t>'A language model is probabilistic. Our answer is to surround it with deterministic code on both sides: everything before step 4 constrains what it sees, everything after constrains what it is allowed to say.'</a:t>
            </a:r>
          </a:p>
          <a:p/>
          <a:p>
            <a:r>
              <a:t>Expected question: 'What if it hallucinates a drug name?' → Step 6 rejects the response on a banned-content check and we return the rules-based guidance instead.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a:t>
            </a:r>
          </a:p>
          <a:p>
            <a:r>
              <a:t>'Six collections. Note we store a *denormalised snapshot* of the AI response — if we change prompts or providers next month, old sessions must still render exactly as the user saw them. That is an architectural choice about immutability of history, not laziness.'</a:t>
            </a:r>
          </a:p>
          <a:p/>
          <a:p>
            <a:r>
              <a:t>If asked why not MySQL → ADR-03.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closes here and hands to MEMBER 4.</a:t>
            </a:r>
          </a:p>
          <a:p>
            <a:r>
              <a:t>'Resource-oriented URLs, HTTP verbs carry the action, versioned prefix so we can evolve without breaking the client. Every error uses one envelope so the React layer has exactly one error path to handle.'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 begins — this is the highest-value slide for marks.</a:t>
            </a:r>
          </a:p>
          <a:p>
            <a:r>
              <a:t>'For each decision we recorded the alternative we rejected and the price we accept.'</a:t>
            </a:r>
          </a:p>
          <a:p/>
          <a:p>
            <a:r>
              <a:t>Rehearse ADR-01: microservices would give independent scaling and deployment, but four students on a semester deadline cannot absorb distributed tracing, network failure handling and multi-service DevOps. We chose a MODULAR monolith — clean module seams so the AI service can be extracted later without a rewrite. That is deferring a decision, not avoiding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a:t>
            </a:r>
          </a:p>
          <a:p>
            <a:r>
              <a:t>'Functional requirements say what the system does; quality attributes decide what the architecture looks like. Each row is a measurable scenario paired with the tactic that achieves it — not an adjective.'</a:t>
            </a:r>
          </a:p>
          <a:p/>
          <a:p>
            <a:r>
              <a:t>If asked which dominates: safety first, then privacy. We would trade latency for either without hesitating.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a:t>
            </a:r>
          </a:p>
          <a:p>
            <a:r>
              <a:t>Do not just name the patterns — name where each one lives in OUR code. Examiners test that. Strongest three to emphasise: Adapter (AI vendor), Repository (database swap), Circuit Breaker (resilience).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a:t>
            </a:r>
          </a:p>
          <a:p>
            <a:r>
              <a:t>'Health data is among the most sensitive category of personal data. We treat the third-party AI provider as an UNTRUSTED external party — that is why redaction sits at our boundary and not at theirs.'</a:t>
            </a:r>
          </a:p>
          <a:p/>
          <a:p>
            <a:r>
              <a:t>If asked about compliance: we are not claiming HIPAA or DPDP certification for a student project, but the design follows their core principles — minimisation, encryption, access control, auditability.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 (or MEMBER 2 if you rebalance).</a:t>
            </a:r>
          </a:p>
          <a:p>
            <a:r>
              <a:t>'Managed services throughout — as a student team our scarcest resource is time, so we buy infrastructure rather than operate it. The API tier is stateless, which is what lets us add instances behind the load balancer with no session affinity.'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a:t>
            </a:r>
          </a:p>
          <a:p>
            <a:r>
              <a:t>'Naming your risks before the panel does is the point of this slide.' The honest one is row 1 — we cannot eliminate hallucination, so we CONTAIN it: constrain the input, validate the output, and never let the model own the escalation decision.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a:t>
            </a:r>
          </a:p>
          <a:p>
            <a:r>
              <a:t>'Phase 1 is what we commit to delivering this semester. Phases 2 and 3 show the architecture has room to grow — and crucially, none of them require a rewrite, because of the module seams in ADR-01 and the adapter in ADR-04.'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Whoever is closing.</a:t>
            </a:r>
          </a:p>
          <a:p>
            <a:r>
              <a:t>Read the split, then deliver the closing line and invite questions.</a:t>
            </a:r>
          </a:p>
          <a:p/>
          <a:p>
            <a:r>
              <a:t>Likely panel questions to rehearse:</a:t>
            </a:r>
          </a:p>
          <a:p>
            <a:r>
              <a:t>1. Why layered and not microservices? → ADR-01</a:t>
            </a:r>
          </a:p>
          <a:p>
            <a:r>
              <a:t>2. What if the AI is wrong? → rules engine + output validation + disclaimer</a:t>
            </a:r>
          </a:p>
          <a:p>
            <a:r>
              <a:t>3. Why MongoDB? → ADR-03, document shape and schema evolution</a:t>
            </a:r>
          </a:p>
          <a:p>
            <a:r>
              <a:t>4. How do you protect health data? → redaction at the boundary, encryption, audit log</a:t>
            </a:r>
          </a:p>
          <a:p>
            <a:r>
              <a:t>5. How does it scale? → stateless JWT + horizontal instances + cache + async queue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Anticipated questions:</a:t>
            </a:r>
          </a:p>
          <a:p>
            <a:r>
              <a:t>• Why layered, not microservices? → ADR-01: team size + timeline; modular seams preserve the option.</a:t>
            </a:r>
          </a:p>
          <a:p>
            <a:r>
              <a:t>• What if the AI hallucinates? → Rules engine owns escalation; output schema + banned-content check.</a:t>
            </a:r>
          </a:p>
          <a:p>
            <a:r>
              <a:t>• Why MongoDB over MySQL? → ADR-03: nested, schema-evolving documents; no join-heavy queries.</a:t>
            </a:r>
          </a:p>
          <a:p>
            <a:r>
              <a:t>• Is this legal / regulated? → Positioned as decision SUPPORT with mandatory disclaimers; no prescriptions, no dosages.</a:t>
            </a:r>
          </a:p>
          <a:p>
            <a:r>
              <a:t>• How does it scale? → Stateless JWT, horizontal API instances, Redis cache, async job queue.</a:t>
            </a:r>
          </a:p>
          <a:p>
            <a:r>
              <a:t>• Biggest architectural risk? → Dependence on a third-party AI provider; mitigated by the adapter, circuit breaker and fallback provider.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E4A"/>
        </a:solidFill>
        <a:effectLst/>
      </p:bgPr>
    </p:bg>
    <p:spTree>
      <p:nvGrpSpPr>
        <p:cNvPr id="1" name=""/>
        <p:cNvGrpSpPr/>
        <p:nvPr/>
      </p:nvGrpSpPr>
      <p:grpSpPr/>
      <p:sp>
        <p:nvSpPr>
          <p:cNvPr id="2" name="Oval 1"/>
          <p:cNvSpPr/>
          <p:nvPr/>
        </p:nvSpPr>
        <p:spPr>
          <a:xfrm>
            <a:off x="9509760" y="-1371600"/>
            <a:ext cx="4754880" cy="4754880"/>
          </a:xfrm>
          <a:prstGeom prst="ellipse">
            <a:avLst/>
          </a:prstGeom>
          <a:solidFill>
            <a:srgbClr val="115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Oval 2"/>
          <p:cNvSpPr/>
          <p:nvPr/>
        </p:nvSpPr>
        <p:spPr>
          <a:xfrm>
            <a:off x="10607040" y="3840480"/>
            <a:ext cx="3657600" cy="3657600"/>
          </a:xfrm>
          <a:prstGeom prst="ellipse">
            <a:avLst/>
          </a:prstGeom>
          <a:solidFill>
            <a:srgbClr val="0E57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Oval 3"/>
          <p:cNvSpPr/>
          <p:nvPr/>
        </p:nvSpPr>
        <p:spPr>
          <a:xfrm>
            <a:off x="-1097280" y="4572000"/>
            <a:ext cx="3108960" cy="3108960"/>
          </a:xfrm>
          <a:prstGeom prst="ellipse">
            <a:avLst/>
          </a:prstGeom>
          <a:solidFill>
            <a:srgbClr val="115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Rounded Rectangle 4"/>
          <p:cNvSpPr/>
          <p:nvPr/>
        </p:nvSpPr>
        <p:spPr>
          <a:xfrm>
            <a:off x="914400" y="1481328"/>
            <a:ext cx="2395728" cy="329184"/>
          </a:xfrm>
          <a:prstGeom prst="roundRect">
            <a:avLst>
              <a:gd name="adj" fmla="val 50000"/>
            </a:avLst>
          </a:prstGeom>
          <a:solidFill>
            <a:srgbClr val="115E59"/>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950" b="1">
                <a:solidFill>
                  <a:srgbClr val="CCFBF1"/>
                </a:solidFill>
                <a:latin typeface="Segoe UI"/>
              </a:rPr>
              <a:t>SOFTWARE ARCHITECTURE  ·  SEM 5</a:t>
            </a:r>
          </a:p>
        </p:txBody>
      </p:sp>
      <p:sp>
        <p:nvSpPr>
          <p:cNvPr id="6" name="TextBox 5"/>
          <p:cNvSpPr txBox="1"/>
          <p:nvPr/>
        </p:nvSpPr>
        <p:spPr>
          <a:xfrm>
            <a:off x="914400" y="2029968"/>
            <a:ext cx="9509760" cy="1280160"/>
          </a:xfrm>
          <a:prstGeom prst="rect">
            <a:avLst/>
          </a:prstGeom>
          <a:noFill/>
        </p:spPr>
        <p:txBody>
          <a:bodyPr wrap="square" anchor="t" lIns="0" rIns="0" tIns="0" bIns="0">
            <a:spAutoFit/>
          </a:bodyPr>
          <a:lstStyle/>
          <a:p>
            <a:pPr algn="l">
              <a:lnSpc>
                <a:spcPct val="100000"/>
              </a:lnSpc>
              <a:spcBef>
                <a:spcPts val="0"/>
              </a:spcBef>
              <a:spcAft>
                <a:spcPts val="200"/>
              </a:spcAft>
            </a:pPr>
            <a:r>
              <a:rPr sz="6200" b="1" i="0">
                <a:solidFill>
                  <a:srgbClr val="FFFFFF"/>
                </a:solidFill>
                <a:latin typeface="Segoe UI"/>
              </a:rPr>
              <a:t>MedIntel</a:t>
            </a:r>
          </a:p>
        </p:txBody>
      </p:sp>
      <p:sp>
        <p:nvSpPr>
          <p:cNvPr id="7" name="TextBox 6"/>
          <p:cNvSpPr txBox="1"/>
          <p:nvPr/>
        </p:nvSpPr>
        <p:spPr>
          <a:xfrm>
            <a:off x="914400" y="3090672"/>
            <a:ext cx="9326880" cy="822960"/>
          </a:xfrm>
          <a:prstGeom prst="rect">
            <a:avLst/>
          </a:prstGeom>
          <a:noFill/>
        </p:spPr>
        <p:txBody>
          <a:bodyPr wrap="square" anchor="t" lIns="0" rIns="0" tIns="0" bIns="0">
            <a:spAutoFit/>
          </a:bodyPr>
          <a:lstStyle/>
          <a:p>
            <a:pPr algn="l">
              <a:lnSpc>
                <a:spcPct val="128000"/>
              </a:lnSpc>
              <a:spcBef>
                <a:spcPts val="0"/>
              </a:spcBef>
              <a:spcAft>
                <a:spcPts val="0"/>
              </a:spcAft>
            </a:pPr>
            <a:r>
              <a:rPr sz="1900" b="0" i="0">
                <a:solidFill>
                  <a:srgbClr val="CCFBF1"/>
                </a:solidFill>
                <a:latin typeface="Segoe UI"/>
              </a:rPr>
              <a:t>An AI-Powered Medical Assistant for Symptom Triage,
Health Records and Care Adherence</a:t>
            </a:r>
          </a:p>
        </p:txBody>
      </p:sp>
      <p:sp>
        <p:nvSpPr>
          <p:cNvPr id="8" name="Rectangle 7"/>
          <p:cNvSpPr/>
          <p:nvPr/>
        </p:nvSpPr>
        <p:spPr>
          <a:xfrm>
            <a:off x="914400" y="4059936"/>
            <a:ext cx="1371600" cy="320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914400" y="4370832"/>
            <a:ext cx="9509760" cy="45720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99E6DC"/>
                </a:solidFill>
                <a:latin typeface="Segoe UI"/>
              </a:rPr>
              <a:t>Layered Architecture  ·  React.js  ·  Node.js + Express  ·  MongoDB  ·  Gemini / OpenAI  ·  REST</a:t>
            </a:r>
          </a:p>
        </p:txBody>
      </p:sp>
      <p:sp>
        <p:nvSpPr>
          <p:cNvPr id="10" name="Rounded Rectangle 9"/>
          <p:cNvSpPr/>
          <p:nvPr/>
        </p:nvSpPr>
        <p:spPr>
          <a:xfrm>
            <a:off x="914400" y="5029200"/>
            <a:ext cx="6309360" cy="475488"/>
          </a:xfrm>
          <a:prstGeom prst="roundRect">
            <a:avLst>
              <a:gd name="adj" fmla="val 12000"/>
            </a:avLst>
          </a:prstGeom>
          <a:solidFill>
            <a:srgbClr val="115E59"/>
          </a:solidFill>
          <a:ln w="12700">
            <a:solidFill>
              <a:srgbClr val="2A6C6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0">
                <a:solidFill>
                  <a:srgbClr val="CCFBF1"/>
                </a:solidFill>
                <a:latin typeface="Segoe UI"/>
              </a:rPr>
              <a:t>⚠   Clinical decision SUPPORT — not a diagnosis, not a doctor.</a:t>
            </a:r>
          </a:p>
        </p:txBody>
      </p:sp>
      <p:sp>
        <p:nvSpPr>
          <p:cNvPr id="11" name="TextBox 10"/>
          <p:cNvSpPr txBox="1"/>
          <p:nvPr/>
        </p:nvSpPr>
        <p:spPr>
          <a:xfrm>
            <a:off x="914400" y="5870448"/>
            <a:ext cx="9509760" cy="365760"/>
          </a:xfrm>
          <a:prstGeom prst="rect">
            <a:avLst/>
          </a:prstGeom>
          <a:noFill/>
        </p:spPr>
        <p:txBody>
          <a:bodyPr wrap="square" anchor="t" lIns="0" rIns="0" tIns="0" bIns="0">
            <a:spAutoFit/>
          </a:bodyPr>
          <a:lstStyle/>
          <a:p>
            <a:pPr algn="l">
              <a:lnSpc>
                <a:spcPct val="125000"/>
              </a:lnSpc>
              <a:spcBef>
                <a:spcPts val="0"/>
              </a:spcBef>
              <a:spcAft>
                <a:spcPts val="0"/>
              </a:spcAft>
            </a:pPr>
            <a:r>
              <a:rPr sz="1100" b="0" i="0">
                <a:solidFill>
                  <a:srgbClr val="7FD1C6"/>
                </a:solidFill>
                <a:latin typeface="Segoe UI"/>
              </a:rPr>
              <a:t>Presented by  •  Member 1  •  Member 2  •  Member 3  •  Member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MOTIVATION</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The Problem We Are Solving</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02</a:t>
            </a:r>
          </a:p>
        </p:txBody>
      </p:sp>
      <p:sp>
        <p:nvSpPr>
          <p:cNvPr id="8" name="Rounded Rectangle 7"/>
          <p:cNvSpPr/>
          <p:nvPr/>
        </p:nvSpPr>
        <p:spPr>
          <a:xfrm>
            <a:off x="566928" y="1536192"/>
            <a:ext cx="5349240" cy="173736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ounded Rectangle 8"/>
          <p:cNvSpPr/>
          <p:nvPr/>
        </p:nvSpPr>
        <p:spPr>
          <a:xfrm>
            <a:off x="566928" y="1536192"/>
            <a:ext cx="45720" cy="1737360"/>
          </a:xfrm>
          <a:prstGeom prst="roundRect">
            <a:avLst>
              <a:gd name="adj" fmla="val 4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859536" y="1828800"/>
            <a:ext cx="4846320" cy="1280160"/>
          </a:xfrm>
          <a:prstGeom prst="rect">
            <a:avLst/>
          </a:prstGeom>
          <a:noFill/>
        </p:spPr>
        <p:txBody>
          <a:bodyPr wrap="square" anchor="t" lIns="0" rIns="0" tIns="0" bIns="0">
            <a:spAutoFit/>
          </a:bodyPr>
          <a:lstStyle/>
          <a:p>
            <a:pPr algn="l">
              <a:lnSpc>
                <a:spcPct val="125000"/>
              </a:lnSpc>
              <a:spcBef>
                <a:spcPts val="0"/>
              </a:spcBef>
              <a:spcAft>
                <a:spcPts val="800"/>
              </a:spcAft>
            </a:pPr>
            <a:r>
              <a:rPr sz="1500" b="1" i="0">
                <a:solidFill>
                  <a:srgbClr val="0F172A"/>
                </a:solidFill>
                <a:latin typeface="Segoe UI"/>
              </a:rPr>
              <a:t>🔍  Unreliable self-diagnosis</a:t>
            </a:r>
          </a:p>
          <a:p>
            <a:pPr algn="l">
              <a:lnSpc>
                <a:spcPct val="132000"/>
              </a:lnSpc>
              <a:spcBef>
                <a:spcPts val="0"/>
              </a:spcBef>
              <a:spcAft>
                <a:spcPts val="0"/>
              </a:spcAft>
            </a:pPr>
            <a:r>
              <a:rPr sz="1250" b="0" i="0">
                <a:solidFill>
                  <a:srgbClr val="475569"/>
                </a:solidFill>
                <a:latin typeface="Segoe UI"/>
              </a:rPr>
              <a:t>People search symptoms online and get contradictory, fear-inducing results with no personal context.</a:t>
            </a:r>
          </a:p>
        </p:txBody>
      </p:sp>
      <p:sp>
        <p:nvSpPr>
          <p:cNvPr id="11" name="Rounded Rectangle 10"/>
          <p:cNvSpPr/>
          <p:nvPr/>
        </p:nvSpPr>
        <p:spPr>
          <a:xfrm>
            <a:off x="6190488" y="1536192"/>
            <a:ext cx="5349240" cy="173736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ounded Rectangle 11"/>
          <p:cNvSpPr/>
          <p:nvPr/>
        </p:nvSpPr>
        <p:spPr>
          <a:xfrm>
            <a:off x="6190488" y="1536192"/>
            <a:ext cx="45720" cy="1737360"/>
          </a:xfrm>
          <a:prstGeom prst="roundRect">
            <a:avLst>
              <a:gd name="adj" fmla="val 40000"/>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6483096" y="1828800"/>
            <a:ext cx="4846320" cy="1280160"/>
          </a:xfrm>
          <a:prstGeom prst="rect">
            <a:avLst/>
          </a:prstGeom>
          <a:noFill/>
        </p:spPr>
        <p:txBody>
          <a:bodyPr wrap="square" anchor="t" lIns="0" rIns="0" tIns="0" bIns="0">
            <a:spAutoFit/>
          </a:bodyPr>
          <a:lstStyle/>
          <a:p>
            <a:pPr algn="l">
              <a:lnSpc>
                <a:spcPct val="125000"/>
              </a:lnSpc>
              <a:spcBef>
                <a:spcPts val="0"/>
              </a:spcBef>
              <a:spcAft>
                <a:spcPts val="800"/>
              </a:spcAft>
            </a:pPr>
            <a:r>
              <a:rPr sz="1500" b="1" i="0">
                <a:solidFill>
                  <a:srgbClr val="0F172A"/>
                </a:solidFill>
                <a:latin typeface="Segoe UI"/>
              </a:rPr>
              <a:t>⏱  Pressure on primary care</a:t>
            </a:r>
          </a:p>
          <a:p>
            <a:pPr algn="l">
              <a:lnSpc>
                <a:spcPct val="132000"/>
              </a:lnSpc>
              <a:spcBef>
                <a:spcPts val="0"/>
              </a:spcBef>
              <a:spcAft>
                <a:spcPts val="0"/>
              </a:spcAft>
            </a:pPr>
            <a:r>
              <a:rPr sz="1250" b="0" i="0">
                <a:solidFill>
                  <a:srgbClr val="475569"/>
                </a:solidFill>
                <a:latin typeface="Segoe UI"/>
              </a:rPr>
              <a:t>Minor, self-limiting complaints occupy consultation slots, lengthening queues for those who truly need them.</a:t>
            </a:r>
          </a:p>
        </p:txBody>
      </p:sp>
      <p:sp>
        <p:nvSpPr>
          <p:cNvPr id="14" name="Rounded Rectangle 13"/>
          <p:cNvSpPr/>
          <p:nvPr/>
        </p:nvSpPr>
        <p:spPr>
          <a:xfrm>
            <a:off x="566928" y="3584448"/>
            <a:ext cx="5349240" cy="173736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Rounded Rectangle 14"/>
          <p:cNvSpPr/>
          <p:nvPr/>
        </p:nvSpPr>
        <p:spPr>
          <a:xfrm>
            <a:off x="566928" y="3584448"/>
            <a:ext cx="45720" cy="1737360"/>
          </a:xfrm>
          <a:prstGeom prst="roundRect">
            <a:avLst>
              <a:gd name="adj" fmla="val 4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859536" y="3877056"/>
            <a:ext cx="4846320" cy="1280160"/>
          </a:xfrm>
          <a:prstGeom prst="rect">
            <a:avLst/>
          </a:prstGeom>
          <a:noFill/>
        </p:spPr>
        <p:txBody>
          <a:bodyPr wrap="square" anchor="t" lIns="0" rIns="0" tIns="0" bIns="0">
            <a:spAutoFit/>
          </a:bodyPr>
          <a:lstStyle/>
          <a:p>
            <a:pPr algn="l">
              <a:lnSpc>
                <a:spcPct val="125000"/>
              </a:lnSpc>
              <a:spcBef>
                <a:spcPts val="0"/>
              </a:spcBef>
              <a:spcAft>
                <a:spcPts val="800"/>
              </a:spcAft>
            </a:pPr>
            <a:r>
              <a:rPr sz="1500" b="1" i="0">
                <a:solidFill>
                  <a:srgbClr val="0F172A"/>
                </a:solidFill>
                <a:latin typeface="Segoe UI"/>
              </a:rPr>
              <a:t>📁  Scattered health records</a:t>
            </a:r>
          </a:p>
          <a:p>
            <a:pPr algn="l">
              <a:lnSpc>
                <a:spcPct val="132000"/>
              </a:lnSpc>
              <a:spcBef>
                <a:spcPts val="0"/>
              </a:spcBef>
              <a:spcAft>
                <a:spcPts val="0"/>
              </a:spcAft>
            </a:pPr>
            <a:r>
              <a:rPr sz="1250" b="0" i="0">
                <a:solidFill>
                  <a:srgbClr val="475569"/>
                </a:solidFill>
                <a:latin typeface="Segoe UI"/>
              </a:rPr>
              <a:t>Prescriptions on paper, labs as PDFs in e-mail. History is lost exactly when a doctor needs it.</a:t>
            </a:r>
          </a:p>
        </p:txBody>
      </p:sp>
      <p:sp>
        <p:nvSpPr>
          <p:cNvPr id="17" name="Rounded Rectangle 16"/>
          <p:cNvSpPr/>
          <p:nvPr/>
        </p:nvSpPr>
        <p:spPr>
          <a:xfrm>
            <a:off x="6190488" y="3584448"/>
            <a:ext cx="5349240" cy="173736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Rounded Rectangle 17"/>
          <p:cNvSpPr/>
          <p:nvPr/>
        </p:nvSpPr>
        <p:spPr>
          <a:xfrm>
            <a:off x="6190488" y="3584448"/>
            <a:ext cx="45720" cy="1737360"/>
          </a:xfrm>
          <a:prstGeom prst="roundRect">
            <a:avLst>
              <a:gd name="adj" fmla="val 40000"/>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TextBox 18"/>
          <p:cNvSpPr txBox="1"/>
          <p:nvPr/>
        </p:nvSpPr>
        <p:spPr>
          <a:xfrm>
            <a:off x="6483096" y="3877056"/>
            <a:ext cx="4846320" cy="1280160"/>
          </a:xfrm>
          <a:prstGeom prst="rect">
            <a:avLst/>
          </a:prstGeom>
          <a:noFill/>
        </p:spPr>
        <p:txBody>
          <a:bodyPr wrap="square" anchor="t" lIns="0" rIns="0" tIns="0" bIns="0">
            <a:spAutoFit/>
          </a:bodyPr>
          <a:lstStyle/>
          <a:p>
            <a:pPr algn="l">
              <a:lnSpc>
                <a:spcPct val="125000"/>
              </a:lnSpc>
              <a:spcBef>
                <a:spcPts val="0"/>
              </a:spcBef>
              <a:spcAft>
                <a:spcPts val="800"/>
              </a:spcAft>
            </a:pPr>
            <a:r>
              <a:rPr sz="1500" b="1" i="0">
                <a:solidFill>
                  <a:srgbClr val="0F172A"/>
                </a:solidFill>
                <a:latin typeface="Segoe UI"/>
              </a:rPr>
              <a:t>💊  Poor medication adherence</a:t>
            </a:r>
          </a:p>
          <a:p>
            <a:pPr algn="l">
              <a:lnSpc>
                <a:spcPct val="132000"/>
              </a:lnSpc>
              <a:spcBef>
                <a:spcPts val="0"/>
              </a:spcBef>
              <a:spcAft>
                <a:spcPts val="0"/>
              </a:spcAft>
            </a:pPr>
            <a:r>
              <a:rPr sz="1250" b="0" i="0">
                <a:solidFill>
                  <a:srgbClr val="475569"/>
                </a:solidFill>
                <a:latin typeface="Segoe UI"/>
              </a:rPr>
              <a:t>Missed and mistimed doses silently undermine otherwise correct treatment.</a:t>
            </a:r>
          </a:p>
        </p:txBody>
      </p:sp>
      <p:sp>
        <p:nvSpPr>
          <p:cNvPr id="20" name="Rounded Rectangle 19"/>
          <p:cNvSpPr/>
          <p:nvPr/>
        </p:nvSpPr>
        <p:spPr>
          <a:xfrm>
            <a:off x="566928" y="5650992"/>
            <a:ext cx="11064240" cy="548640"/>
          </a:xfrm>
          <a:prstGeom prst="roundRect">
            <a:avLst>
              <a:gd name="adj" fmla="val 10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50" b="0">
                <a:solidFill>
                  <a:srgbClr val="0F766E"/>
                </a:solidFill>
                <a:latin typeface="Segoe UI"/>
              </a:rPr>
              <a:t>These are four disconnected problems today — MedIntel joins them into one guided, record-keeping loop.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SCOPE &amp; SAFETY BOUNDARY</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What MedIntel Is — and What It Is Not</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03</a:t>
            </a:r>
          </a:p>
        </p:txBody>
      </p:sp>
      <p:sp>
        <p:nvSpPr>
          <p:cNvPr id="8" name="Rounded Rectangle 7"/>
          <p:cNvSpPr/>
          <p:nvPr/>
        </p:nvSpPr>
        <p:spPr>
          <a:xfrm>
            <a:off x="566928" y="1417320"/>
            <a:ext cx="5349240" cy="420624"/>
          </a:xfrm>
          <a:prstGeom prst="roundRect">
            <a:avLst>
              <a:gd name="adj" fmla="val 14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lnSpc>
                <a:spcPct val="110000"/>
              </a:lnSpc>
            </a:pPr>
            <a:r>
              <a:rPr sz="1300" b="1">
                <a:solidFill>
                  <a:srgbClr val="0F766E"/>
                </a:solidFill>
                <a:latin typeface="Segoe UI"/>
              </a:rPr>
              <a:t>✓   IT IS</a:t>
            </a:r>
          </a:p>
        </p:txBody>
      </p:sp>
      <p:sp>
        <p:nvSpPr>
          <p:cNvPr id="9" name="TextBox 8"/>
          <p:cNvSpPr txBox="1"/>
          <p:nvPr/>
        </p:nvSpPr>
        <p:spPr>
          <a:xfrm>
            <a:off x="749808" y="2011680"/>
            <a:ext cx="5029200" cy="2743200"/>
          </a:xfrm>
          <a:prstGeom prst="rect">
            <a:avLst/>
          </a:prstGeom>
          <a:noFill/>
        </p:spPr>
        <p:txBody>
          <a:bodyPr wrap="square" anchor="t" lIns="0" rIns="0" tIns="0" bIns="0">
            <a:spAutoFit/>
          </a:bodyPr>
          <a:lstStyle/>
          <a:p>
            <a:pPr marL="182880" indent="-182880">
              <a:lnSpc>
                <a:spcPct val="122000"/>
              </a:lnSpc>
              <a:spcAft>
                <a:spcPts val="2000"/>
              </a:spcAft>
              <a:buClr>
                <a:srgbClr val="0D9488"/>
              </a:buClr>
              <a:buSzPct val="80000"/>
              <a:buFont typeface="Arial" pitchFamily="34" charset="0"/>
              <a:buChar char="▪"/>
            </a:pPr>
            <a:r>
              <a:rPr sz="1300" b="0">
                <a:solidFill>
                  <a:srgbClr val="0F172A"/>
                </a:solidFill>
                <a:latin typeface="Segoe UI"/>
              </a:rPr>
              <a:t>A guided symptom intake and triage assistant</a:t>
            </a:r>
          </a:p>
          <a:p>
            <a:pPr marL="182880" indent="-182880">
              <a:lnSpc>
                <a:spcPct val="122000"/>
              </a:lnSpc>
              <a:spcAft>
                <a:spcPts val="2000"/>
              </a:spcAft>
              <a:buClr>
                <a:srgbClr val="0D9488"/>
              </a:buClr>
              <a:buSzPct val="80000"/>
              <a:buFont typeface="Arial" pitchFamily="34" charset="0"/>
              <a:buChar char="▪"/>
            </a:pPr>
            <a:r>
              <a:rPr sz="1300" b="0">
                <a:solidFill>
                  <a:srgbClr val="0F172A"/>
                </a:solidFill>
                <a:latin typeface="Segoe UI"/>
              </a:rPr>
              <a:t>An explainer of likely conditions, in plain language</a:t>
            </a:r>
          </a:p>
          <a:p>
            <a:pPr marL="182880" indent="-182880">
              <a:lnSpc>
                <a:spcPct val="122000"/>
              </a:lnSpc>
              <a:spcAft>
                <a:spcPts val="2000"/>
              </a:spcAft>
              <a:buClr>
                <a:srgbClr val="0D9488"/>
              </a:buClr>
              <a:buSzPct val="80000"/>
              <a:buFont typeface="Arial" pitchFamily="34" charset="0"/>
              <a:buChar char="▪"/>
            </a:pPr>
            <a:r>
              <a:rPr sz="1300" b="0">
                <a:solidFill>
                  <a:srgbClr val="0F172A"/>
                </a:solidFill>
                <a:latin typeface="Segoe UI"/>
              </a:rPr>
              <a:t>A personal vault for reports, history and allergies</a:t>
            </a:r>
          </a:p>
          <a:p>
            <a:pPr marL="182880" indent="-182880">
              <a:lnSpc>
                <a:spcPct val="122000"/>
              </a:lnSpc>
              <a:spcAft>
                <a:spcPts val="2000"/>
              </a:spcAft>
              <a:buClr>
                <a:srgbClr val="0D9488"/>
              </a:buClr>
              <a:buSzPct val="80000"/>
              <a:buFont typeface="Arial" pitchFamily="34" charset="0"/>
              <a:buChar char="▪"/>
            </a:pPr>
            <a:r>
              <a:rPr sz="1300" b="0">
                <a:solidFill>
                  <a:srgbClr val="0F172A"/>
                </a:solidFill>
                <a:latin typeface="Segoe UI"/>
              </a:rPr>
              <a:t>A medication reminder and adherence tracker</a:t>
            </a:r>
          </a:p>
          <a:p>
            <a:pPr marL="182880" indent="-182880">
              <a:lnSpc>
                <a:spcPct val="122000"/>
              </a:lnSpc>
              <a:spcAft>
                <a:spcPts val="2000"/>
              </a:spcAft>
              <a:buClr>
                <a:srgbClr val="0D9488"/>
              </a:buClr>
              <a:buSzPct val="80000"/>
              <a:buFont typeface="Arial" pitchFamily="34" charset="0"/>
              <a:buChar char="▪"/>
            </a:pPr>
            <a:r>
              <a:rPr sz="1300" b="0">
                <a:solidFill>
                  <a:srgbClr val="0F172A"/>
                </a:solidFill>
                <a:latin typeface="Segoe UI"/>
              </a:rPr>
              <a:t>A router — it tells you how urgently to seek real care</a:t>
            </a:r>
          </a:p>
        </p:txBody>
      </p:sp>
      <p:sp>
        <p:nvSpPr>
          <p:cNvPr id="10" name="Rounded Rectangle 9"/>
          <p:cNvSpPr/>
          <p:nvPr/>
        </p:nvSpPr>
        <p:spPr>
          <a:xfrm>
            <a:off x="6281928" y="1417320"/>
            <a:ext cx="5349240" cy="420624"/>
          </a:xfrm>
          <a:prstGeom prst="roundRect">
            <a:avLst>
              <a:gd name="adj" fmla="val 14000"/>
            </a:avLst>
          </a:prstGeom>
          <a:solidFill>
            <a:srgbClr val="FFF1F2"/>
          </a:solidFill>
          <a:ln w="12700">
            <a:solidFill>
              <a:srgbClr val="FECDD3"/>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lnSpc>
                <a:spcPct val="110000"/>
              </a:lnSpc>
            </a:pPr>
            <a:r>
              <a:rPr sz="1300" b="1">
                <a:solidFill>
                  <a:srgbClr val="BE123C"/>
                </a:solidFill>
                <a:latin typeface="Segoe UI"/>
              </a:rPr>
              <a:t>✕   IT IS NOT</a:t>
            </a:r>
          </a:p>
        </p:txBody>
      </p:sp>
      <p:sp>
        <p:nvSpPr>
          <p:cNvPr id="11" name="TextBox 10"/>
          <p:cNvSpPr txBox="1"/>
          <p:nvPr/>
        </p:nvSpPr>
        <p:spPr>
          <a:xfrm>
            <a:off x="6464808" y="2011680"/>
            <a:ext cx="5029200" cy="2743200"/>
          </a:xfrm>
          <a:prstGeom prst="rect">
            <a:avLst/>
          </a:prstGeom>
          <a:noFill/>
        </p:spPr>
        <p:txBody>
          <a:bodyPr wrap="square" anchor="t" lIns="0" rIns="0" tIns="0" bIns="0">
            <a:spAutoFit/>
          </a:bodyPr>
          <a:lstStyle/>
          <a:p>
            <a:pPr marL="182880" indent="-182880">
              <a:lnSpc>
                <a:spcPct val="122000"/>
              </a:lnSpc>
              <a:spcAft>
                <a:spcPts val="2000"/>
              </a:spcAft>
              <a:buClr>
                <a:srgbClr val="BE123C"/>
              </a:buClr>
              <a:buSzPct val="80000"/>
              <a:buFont typeface="Arial" pitchFamily="34" charset="0"/>
              <a:buChar char="▪"/>
            </a:pPr>
            <a:r>
              <a:rPr sz="1300" b="0">
                <a:solidFill>
                  <a:srgbClr val="0F172A"/>
                </a:solidFill>
                <a:latin typeface="Segoe UI"/>
              </a:rPr>
              <a:t>A diagnosis — output is possibility, never verdict</a:t>
            </a:r>
          </a:p>
          <a:p>
            <a:pPr marL="182880" indent="-182880">
              <a:lnSpc>
                <a:spcPct val="122000"/>
              </a:lnSpc>
              <a:spcAft>
                <a:spcPts val="2000"/>
              </a:spcAft>
              <a:buClr>
                <a:srgbClr val="BE123C"/>
              </a:buClr>
              <a:buSzPct val="80000"/>
              <a:buFont typeface="Arial" pitchFamily="34" charset="0"/>
              <a:buChar char="▪"/>
            </a:pPr>
            <a:r>
              <a:rPr sz="1300" b="0">
                <a:solidFill>
                  <a:srgbClr val="0F172A"/>
                </a:solidFill>
                <a:latin typeface="Segoe UI"/>
              </a:rPr>
              <a:t>A prescription engine — no drug names, no dosages</a:t>
            </a:r>
          </a:p>
          <a:p>
            <a:pPr marL="182880" indent="-182880">
              <a:lnSpc>
                <a:spcPct val="122000"/>
              </a:lnSpc>
              <a:spcAft>
                <a:spcPts val="2000"/>
              </a:spcAft>
              <a:buClr>
                <a:srgbClr val="BE123C"/>
              </a:buClr>
              <a:buSzPct val="80000"/>
              <a:buFont typeface="Arial" pitchFamily="34" charset="0"/>
              <a:buChar char="▪"/>
            </a:pPr>
            <a:r>
              <a:rPr sz="1300" b="0">
                <a:solidFill>
                  <a:srgbClr val="0F172A"/>
                </a:solidFill>
                <a:latin typeface="Segoe UI"/>
              </a:rPr>
              <a:t>An emergency service — it escalates, it does not treat</a:t>
            </a:r>
          </a:p>
          <a:p>
            <a:pPr marL="182880" indent="-182880">
              <a:lnSpc>
                <a:spcPct val="122000"/>
              </a:lnSpc>
              <a:spcAft>
                <a:spcPts val="2000"/>
              </a:spcAft>
              <a:buClr>
                <a:srgbClr val="BE123C"/>
              </a:buClr>
              <a:buSzPct val="80000"/>
              <a:buFont typeface="Arial" pitchFamily="34" charset="0"/>
              <a:buChar char="▪"/>
            </a:pPr>
            <a:r>
              <a:rPr sz="1300" b="0">
                <a:solidFill>
                  <a:srgbClr val="0F172A"/>
                </a:solidFill>
                <a:latin typeface="Segoe UI"/>
              </a:rPr>
              <a:t>A replacement for a licensed clinician</a:t>
            </a:r>
          </a:p>
          <a:p>
            <a:pPr marL="182880" indent="-182880">
              <a:lnSpc>
                <a:spcPct val="122000"/>
              </a:lnSpc>
              <a:spcAft>
                <a:spcPts val="2000"/>
              </a:spcAft>
              <a:buClr>
                <a:srgbClr val="BE123C"/>
              </a:buClr>
              <a:buSzPct val="80000"/>
              <a:buFont typeface="Arial" pitchFamily="34" charset="0"/>
              <a:buChar char="▪"/>
            </a:pPr>
            <a:r>
              <a:rPr sz="1300" b="0">
                <a:solidFill>
                  <a:srgbClr val="0F172A"/>
                </a:solidFill>
                <a:latin typeface="Segoe UI"/>
              </a:rPr>
              <a:t>A store of record for legal or insurance purposes</a:t>
            </a:r>
          </a:p>
        </p:txBody>
      </p:sp>
      <p:sp>
        <p:nvSpPr>
          <p:cNvPr id="12" name="Rounded Rectangle 11"/>
          <p:cNvSpPr/>
          <p:nvPr/>
        </p:nvSpPr>
        <p:spPr>
          <a:xfrm>
            <a:off x="566928" y="4956048"/>
            <a:ext cx="11064240" cy="1170432"/>
          </a:xfrm>
          <a:prstGeom prst="roundRect">
            <a:avLst>
              <a:gd name="adj" fmla="val 9000"/>
            </a:avLst>
          </a:prstGeom>
          <a:solidFill>
            <a:srgbClr val="FFF7ED"/>
          </a:solidFill>
          <a:ln w="12700">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841248" y="5138928"/>
            <a:ext cx="10515600" cy="914400"/>
          </a:xfrm>
          <a:prstGeom prst="rect">
            <a:avLst/>
          </a:prstGeom>
          <a:noFill/>
        </p:spPr>
        <p:txBody>
          <a:bodyPr wrap="square" anchor="t" lIns="0" rIns="0" tIns="0" bIns="0">
            <a:spAutoFit/>
          </a:bodyPr>
          <a:lstStyle/>
          <a:p>
            <a:pPr algn="l">
              <a:lnSpc>
                <a:spcPct val="125000"/>
              </a:lnSpc>
              <a:spcBef>
                <a:spcPts val="0"/>
              </a:spcBef>
              <a:spcAft>
                <a:spcPts val="600"/>
              </a:spcAft>
            </a:pPr>
            <a:r>
              <a:rPr sz="1100" b="1" i="0">
                <a:solidFill>
                  <a:srgbClr val="B45309"/>
                </a:solidFill>
                <a:latin typeface="Segoe UI"/>
              </a:rPr>
              <a:t>⚠   THE GUARDRAIL PRINCIPLE</a:t>
            </a:r>
          </a:p>
          <a:p>
            <a:pPr algn="l">
              <a:lnSpc>
                <a:spcPct val="130000"/>
              </a:lnSpc>
              <a:spcBef>
                <a:spcPts val="0"/>
              </a:spcBef>
              <a:spcAft>
                <a:spcPts val="0"/>
              </a:spcAft>
            </a:pPr>
            <a:r>
              <a:rPr sz="1250" b="0" i="0">
                <a:solidFill>
                  <a:srgbClr val="475569"/>
                </a:solidFill>
                <a:latin typeface="Segoe UI"/>
              </a:rPr>
              <a:t>Every AI response is wrapped with a confidence band, a mandatory 'consult a physician' notice, and an urgency level. Red-flag symptom combinations bypass the AI entirely and trigger immediate escalation — a deterministic rule, not a probabilistic guess.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SCOPE — VERSION 1.0</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Functional Modules</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04</a:t>
            </a:r>
          </a:p>
        </p:txBody>
      </p:sp>
      <p:sp>
        <p:nvSpPr>
          <p:cNvPr id="8" name="Rounded Rectangle 7"/>
          <p:cNvSpPr/>
          <p:nvPr/>
        </p:nvSpPr>
        <p:spPr>
          <a:xfrm>
            <a:off x="566928" y="1481328"/>
            <a:ext cx="3520440" cy="20116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ounded Rectangle 8"/>
          <p:cNvSpPr/>
          <p:nvPr/>
        </p:nvSpPr>
        <p:spPr>
          <a:xfrm>
            <a:off x="822960" y="1719072"/>
            <a:ext cx="475488" cy="329184"/>
          </a:xfrm>
          <a:prstGeom prst="roundRect">
            <a:avLst>
              <a:gd name="adj" fmla="val 25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1">
                <a:solidFill>
                  <a:srgbClr val="0F766E"/>
                </a:solidFill>
                <a:latin typeface="Segoe UI"/>
              </a:rPr>
              <a:t>01</a:t>
            </a:r>
          </a:p>
        </p:txBody>
      </p:sp>
      <p:sp>
        <p:nvSpPr>
          <p:cNvPr id="10" name="TextBox 9"/>
          <p:cNvSpPr txBox="1"/>
          <p:nvPr/>
        </p:nvSpPr>
        <p:spPr>
          <a:xfrm>
            <a:off x="822960" y="2157984"/>
            <a:ext cx="3017520" cy="1188720"/>
          </a:xfrm>
          <a:prstGeom prst="rect">
            <a:avLst/>
          </a:prstGeom>
          <a:noFill/>
        </p:spPr>
        <p:txBody>
          <a:bodyPr wrap="square" anchor="t" lIns="0" rIns="0" tIns="0" bIns="0">
            <a:spAutoFit/>
          </a:bodyPr>
          <a:lstStyle/>
          <a:p>
            <a:pPr algn="l">
              <a:lnSpc>
                <a:spcPct val="115000"/>
              </a:lnSpc>
              <a:spcBef>
                <a:spcPts val="0"/>
              </a:spcBef>
              <a:spcAft>
                <a:spcPts val="700"/>
              </a:spcAft>
            </a:pPr>
            <a:r>
              <a:rPr sz="1400" b="1" i="0">
                <a:solidFill>
                  <a:srgbClr val="0F172A"/>
                </a:solidFill>
                <a:latin typeface="Segoe UI"/>
              </a:rPr>
              <a:t>User Authentication
&amp; Profile</a:t>
            </a:r>
          </a:p>
          <a:p>
            <a:pPr algn="l">
              <a:lnSpc>
                <a:spcPct val="130000"/>
              </a:lnSpc>
              <a:spcBef>
                <a:spcPts val="0"/>
              </a:spcBef>
              <a:spcAft>
                <a:spcPts val="0"/>
              </a:spcAft>
            </a:pPr>
            <a:r>
              <a:rPr sz="1150" b="0" i="0">
                <a:solidFill>
                  <a:srgbClr val="475569"/>
                </a:solidFill>
                <a:latin typeface="Segoe UI"/>
              </a:rPr>
              <a:t>Register / login, JWT sessions, hashed credentials, profile with age, sex, allergies, chronic conditions.</a:t>
            </a:r>
          </a:p>
        </p:txBody>
      </p:sp>
      <p:sp>
        <p:nvSpPr>
          <p:cNvPr id="11" name="Rounded Rectangle 10"/>
          <p:cNvSpPr/>
          <p:nvPr/>
        </p:nvSpPr>
        <p:spPr>
          <a:xfrm>
            <a:off x="4315968" y="1481328"/>
            <a:ext cx="3520440" cy="20116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ounded Rectangle 11"/>
          <p:cNvSpPr/>
          <p:nvPr/>
        </p:nvSpPr>
        <p:spPr>
          <a:xfrm>
            <a:off x="4572000" y="1719072"/>
            <a:ext cx="475488" cy="329184"/>
          </a:xfrm>
          <a:prstGeom prst="roundRect">
            <a:avLst>
              <a:gd name="adj" fmla="val 25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1">
                <a:solidFill>
                  <a:srgbClr val="0F766E"/>
                </a:solidFill>
                <a:latin typeface="Segoe UI"/>
              </a:rPr>
              <a:t>02</a:t>
            </a:r>
          </a:p>
        </p:txBody>
      </p:sp>
      <p:sp>
        <p:nvSpPr>
          <p:cNvPr id="13" name="TextBox 12"/>
          <p:cNvSpPr txBox="1"/>
          <p:nvPr/>
        </p:nvSpPr>
        <p:spPr>
          <a:xfrm>
            <a:off x="4572000" y="2157984"/>
            <a:ext cx="3017520" cy="1188720"/>
          </a:xfrm>
          <a:prstGeom prst="rect">
            <a:avLst/>
          </a:prstGeom>
          <a:noFill/>
        </p:spPr>
        <p:txBody>
          <a:bodyPr wrap="square" anchor="t" lIns="0" rIns="0" tIns="0" bIns="0">
            <a:spAutoFit/>
          </a:bodyPr>
          <a:lstStyle/>
          <a:p>
            <a:pPr algn="l">
              <a:lnSpc>
                <a:spcPct val="115000"/>
              </a:lnSpc>
              <a:spcBef>
                <a:spcPts val="0"/>
              </a:spcBef>
              <a:spcAft>
                <a:spcPts val="700"/>
              </a:spcAft>
            </a:pPr>
            <a:r>
              <a:rPr sz="1400" b="1" i="0">
                <a:solidFill>
                  <a:srgbClr val="0F172A"/>
                </a:solidFill>
                <a:latin typeface="Segoe UI"/>
              </a:rPr>
              <a:t>Symptom Analysis</a:t>
            </a:r>
          </a:p>
          <a:p>
            <a:pPr algn="l">
              <a:lnSpc>
                <a:spcPct val="130000"/>
              </a:lnSpc>
              <a:spcBef>
                <a:spcPts val="0"/>
              </a:spcBef>
              <a:spcAft>
                <a:spcPts val="0"/>
              </a:spcAft>
            </a:pPr>
            <a:r>
              <a:rPr sz="1150" b="0" i="0">
                <a:solidFill>
                  <a:srgbClr val="475569"/>
                </a:solidFill>
                <a:latin typeface="Segoe UI"/>
              </a:rPr>
              <a:t>Structured intake → red-flag rules → AI reasoning → ranked possible conditions with urgency level.</a:t>
            </a:r>
          </a:p>
        </p:txBody>
      </p:sp>
      <p:sp>
        <p:nvSpPr>
          <p:cNvPr id="14" name="Rounded Rectangle 13"/>
          <p:cNvSpPr/>
          <p:nvPr/>
        </p:nvSpPr>
        <p:spPr>
          <a:xfrm>
            <a:off x="8065007" y="1481328"/>
            <a:ext cx="3520440" cy="20116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Rounded Rectangle 14"/>
          <p:cNvSpPr/>
          <p:nvPr/>
        </p:nvSpPr>
        <p:spPr>
          <a:xfrm>
            <a:off x="8321039" y="1719072"/>
            <a:ext cx="475488" cy="329184"/>
          </a:xfrm>
          <a:prstGeom prst="roundRect">
            <a:avLst>
              <a:gd name="adj" fmla="val 25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1">
                <a:solidFill>
                  <a:srgbClr val="0F766E"/>
                </a:solidFill>
                <a:latin typeface="Segoe UI"/>
              </a:rPr>
              <a:t>03</a:t>
            </a:r>
          </a:p>
        </p:txBody>
      </p:sp>
      <p:sp>
        <p:nvSpPr>
          <p:cNvPr id="16" name="TextBox 15"/>
          <p:cNvSpPr txBox="1"/>
          <p:nvPr/>
        </p:nvSpPr>
        <p:spPr>
          <a:xfrm>
            <a:off x="8321039" y="2157984"/>
            <a:ext cx="3017520" cy="1188720"/>
          </a:xfrm>
          <a:prstGeom prst="rect">
            <a:avLst/>
          </a:prstGeom>
          <a:noFill/>
        </p:spPr>
        <p:txBody>
          <a:bodyPr wrap="square" anchor="t" lIns="0" rIns="0" tIns="0" bIns="0">
            <a:spAutoFit/>
          </a:bodyPr>
          <a:lstStyle/>
          <a:p>
            <a:pPr algn="l">
              <a:lnSpc>
                <a:spcPct val="115000"/>
              </a:lnSpc>
              <a:spcBef>
                <a:spcPts val="0"/>
              </a:spcBef>
              <a:spcAft>
                <a:spcPts val="700"/>
              </a:spcAft>
            </a:pPr>
            <a:r>
              <a:rPr sz="1400" b="1" i="0">
                <a:solidFill>
                  <a:srgbClr val="0F172A"/>
                </a:solidFill>
                <a:latin typeface="Segoe UI"/>
              </a:rPr>
              <a:t>AI Health Chatbot</a:t>
            </a:r>
          </a:p>
          <a:p>
            <a:pPr algn="l">
              <a:lnSpc>
                <a:spcPct val="130000"/>
              </a:lnSpc>
              <a:spcBef>
                <a:spcPts val="0"/>
              </a:spcBef>
              <a:spcAft>
                <a:spcPts val="0"/>
              </a:spcAft>
            </a:pPr>
            <a:r>
              <a:rPr sz="1150" b="0" i="0">
                <a:solidFill>
                  <a:srgbClr val="475569"/>
                </a:solidFill>
                <a:latin typeface="Segoe UI"/>
              </a:rPr>
              <a:t>Follow-up conversation that remembers the session context and the user's stored history.</a:t>
            </a:r>
          </a:p>
        </p:txBody>
      </p:sp>
      <p:sp>
        <p:nvSpPr>
          <p:cNvPr id="17" name="Rounded Rectangle 16"/>
          <p:cNvSpPr/>
          <p:nvPr/>
        </p:nvSpPr>
        <p:spPr>
          <a:xfrm>
            <a:off x="566928" y="3749039"/>
            <a:ext cx="3520440" cy="20116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Rounded Rectangle 17"/>
          <p:cNvSpPr/>
          <p:nvPr/>
        </p:nvSpPr>
        <p:spPr>
          <a:xfrm>
            <a:off x="822960" y="3986783"/>
            <a:ext cx="475488" cy="329184"/>
          </a:xfrm>
          <a:prstGeom prst="roundRect">
            <a:avLst>
              <a:gd name="adj" fmla="val 25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1">
                <a:solidFill>
                  <a:srgbClr val="0F766E"/>
                </a:solidFill>
                <a:latin typeface="Segoe UI"/>
              </a:rPr>
              <a:t>04</a:t>
            </a:r>
          </a:p>
        </p:txBody>
      </p:sp>
      <p:sp>
        <p:nvSpPr>
          <p:cNvPr id="19" name="TextBox 18"/>
          <p:cNvSpPr txBox="1"/>
          <p:nvPr/>
        </p:nvSpPr>
        <p:spPr>
          <a:xfrm>
            <a:off x="822960" y="4425696"/>
            <a:ext cx="3017520" cy="1188720"/>
          </a:xfrm>
          <a:prstGeom prst="rect">
            <a:avLst/>
          </a:prstGeom>
          <a:noFill/>
        </p:spPr>
        <p:txBody>
          <a:bodyPr wrap="square" anchor="t" lIns="0" rIns="0" tIns="0" bIns="0">
            <a:spAutoFit/>
          </a:bodyPr>
          <a:lstStyle/>
          <a:p>
            <a:pPr algn="l">
              <a:lnSpc>
                <a:spcPct val="115000"/>
              </a:lnSpc>
              <a:spcBef>
                <a:spcPts val="0"/>
              </a:spcBef>
              <a:spcAft>
                <a:spcPts val="700"/>
              </a:spcAft>
            </a:pPr>
            <a:r>
              <a:rPr sz="1400" b="1" i="0">
                <a:solidFill>
                  <a:srgbClr val="0F172A"/>
                </a:solidFill>
                <a:latin typeface="Segoe UI"/>
              </a:rPr>
              <a:t>Medical Report Upload</a:t>
            </a:r>
          </a:p>
          <a:p>
            <a:pPr algn="l">
              <a:lnSpc>
                <a:spcPct val="130000"/>
              </a:lnSpc>
              <a:spcBef>
                <a:spcPts val="0"/>
              </a:spcBef>
              <a:spcAft>
                <a:spcPts val="0"/>
              </a:spcAft>
            </a:pPr>
            <a:r>
              <a:rPr sz="1150" b="0" i="0">
                <a:solidFill>
                  <a:srgbClr val="475569"/>
                </a:solidFill>
                <a:latin typeface="Segoe UI"/>
              </a:rPr>
              <a:t>PDF / image upload, OCR text extraction, AI summary of key values, attached to the timeline.</a:t>
            </a:r>
          </a:p>
        </p:txBody>
      </p:sp>
      <p:sp>
        <p:nvSpPr>
          <p:cNvPr id="20" name="Rounded Rectangle 19"/>
          <p:cNvSpPr/>
          <p:nvPr/>
        </p:nvSpPr>
        <p:spPr>
          <a:xfrm>
            <a:off x="4315968" y="3749039"/>
            <a:ext cx="3520440" cy="20116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Rounded Rectangle 20"/>
          <p:cNvSpPr/>
          <p:nvPr/>
        </p:nvSpPr>
        <p:spPr>
          <a:xfrm>
            <a:off x="4572000" y="3986783"/>
            <a:ext cx="475488" cy="329184"/>
          </a:xfrm>
          <a:prstGeom prst="roundRect">
            <a:avLst>
              <a:gd name="adj" fmla="val 25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1">
                <a:solidFill>
                  <a:srgbClr val="0F766E"/>
                </a:solidFill>
                <a:latin typeface="Segoe UI"/>
              </a:rPr>
              <a:t>05</a:t>
            </a:r>
          </a:p>
        </p:txBody>
      </p:sp>
      <p:sp>
        <p:nvSpPr>
          <p:cNvPr id="22" name="TextBox 21"/>
          <p:cNvSpPr txBox="1"/>
          <p:nvPr/>
        </p:nvSpPr>
        <p:spPr>
          <a:xfrm>
            <a:off x="4572000" y="4425696"/>
            <a:ext cx="3017520" cy="1188720"/>
          </a:xfrm>
          <a:prstGeom prst="rect">
            <a:avLst/>
          </a:prstGeom>
          <a:noFill/>
        </p:spPr>
        <p:txBody>
          <a:bodyPr wrap="square" anchor="t" lIns="0" rIns="0" tIns="0" bIns="0">
            <a:spAutoFit/>
          </a:bodyPr>
          <a:lstStyle/>
          <a:p>
            <a:pPr algn="l">
              <a:lnSpc>
                <a:spcPct val="115000"/>
              </a:lnSpc>
              <a:spcBef>
                <a:spcPts val="0"/>
              </a:spcBef>
              <a:spcAft>
                <a:spcPts val="700"/>
              </a:spcAft>
            </a:pPr>
            <a:r>
              <a:rPr sz="1400" b="1" i="0">
                <a:solidFill>
                  <a:srgbClr val="0F172A"/>
                </a:solidFill>
                <a:latin typeface="Segoe UI"/>
              </a:rPr>
              <a:t>Medicine Reminder</a:t>
            </a:r>
          </a:p>
          <a:p>
            <a:pPr algn="l">
              <a:lnSpc>
                <a:spcPct val="130000"/>
              </a:lnSpc>
              <a:spcBef>
                <a:spcPts val="0"/>
              </a:spcBef>
              <a:spcAft>
                <a:spcPts val="0"/>
              </a:spcAft>
            </a:pPr>
            <a:r>
              <a:rPr sz="1150" b="0" i="0">
                <a:solidFill>
                  <a:srgbClr val="475569"/>
                </a:solidFill>
                <a:latin typeface="Segoe UI"/>
              </a:rPr>
              <a:t>Schedule doses, recurring jobs, push / e-mail notification, taken-or-missed adherence log.</a:t>
            </a:r>
          </a:p>
        </p:txBody>
      </p:sp>
      <p:sp>
        <p:nvSpPr>
          <p:cNvPr id="23" name="Rounded Rectangle 22"/>
          <p:cNvSpPr/>
          <p:nvPr/>
        </p:nvSpPr>
        <p:spPr>
          <a:xfrm>
            <a:off x="8065007" y="3749039"/>
            <a:ext cx="3520440" cy="20116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Rounded Rectangle 23"/>
          <p:cNvSpPr/>
          <p:nvPr/>
        </p:nvSpPr>
        <p:spPr>
          <a:xfrm>
            <a:off x="8321039" y="3986783"/>
            <a:ext cx="475488" cy="329184"/>
          </a:xfrm>
          <a:prstGeom prst="roundRect">
            <a:avLst>
              <a:gd name="adj" fmla="val 25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1">
                <a:solidFill>
                  <a:srgbClr val="0F766E"/>
                </a:solidFill>
                <a:latin typeface="Segoe UI"/>
              </a:rPr>
              <a:t>06</a:t>
            </a:r>
          </a:p>
        </p:txBody>
      </p:sp>
      <p:sp>
        <p:nvSpPr>
          <p:cNvPr id="25" name="TextBox 24"/>
          <p:cNvSpPr txBox="1"/>
          <p:nvPr/>
        </p:nvSpPr>
        <p:spPr>
          <a:xfrm>
            <a:off x="8321039" y="4425696"/>
            <a:ext cx="3017520" cy="1188720"/>
          </a:xfrm>
          <a:prstGeom prst="rect">
            <a:avLst/>
          </a:prstGeom>
          <a:noFill/>
        </p:spPr>
        <p:txBody>
          <a:bodyPr wrap="square" anchor="t" lIns="0" rIns="0" tIns="0" bIns="0">
            <a:spAutoFit/>
          </a:bodyPr>
          <a:lstStyle/>
          <a:p>
            <a:pPr algn="l">
              <a:lnSpc>
                <a:spcPct val="115000"/>
              </a:lnSpc>
              <a:spcBef>
                <a:spcPts val="0"/>
              </a:spcBef>
              <a:spcAft>
                <a:spcPts val="700"/>
              </a:spcAft>
            </a:pPr>
            <a:r>
              <a:rPr sz="1400" b="1" i="0">
                <a:solidFill>
                  <a:srgbClr val="0F172A"/>
                </a:solidFill>
                <a:latin typeface="Segoe UI"/>
              </a:rPr>
              <a:t>Medical History</a:t>
            </a:r>
          </a:p>
          <a:p>
            <a:pPr algn="l">
              <a:lnSpc>
                <a:spcPct val="130000"/>
              </a:lnSpc>
              <a:spcBef>
                <a:spcPts val="0"/>
              </a:spcBef>
              <a:spcAft>
                <a:spcPts val="0"/>
              </a:spcAft>
            </a:pPr>
            <a:r>
              <a:rPr sz="1150" b="0" i="0">
                <a:solidFill>
                  <a:srgbClr val="475569"/>
                </a:solidFill>
                <a:latin typeface="Segoe UI"/>
              </a:rPr>
              <a:t>Unified chronological timeline of sessions, reports and medication, exportable for a real consultation.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TECHNOLOGIES</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Technology Stack — and Why</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05</a:t>
            </a:r>
          </a:p>
        </p:txBody>
      </p:sp>
      <p:graphicFrame>
        <p:nvGraphicFramePr>
          <p:cNvPr id="8" name="Table 7"/>
          <p:cNvGraphicFramePr>
            <a:graphicFrameLocks noGrp="1"/>
          </p:cNvGraphicFramePr>
          <p:nvPr/>
        </p:nvGraphicFramePr>
        <p:xfrm>
          <a:off x="566928" y="1371600"/>
          <a:ext cx="11064240" cy="4727448"/>
        </p:xfrm>
        <a:graphic>
          <a:graphicData uri="http://schemas.openxmlformats.org/drawingml/2006/table">
            <a:tbl>
              <a:tblPr>
                <a:tableStyleId>{5C22544A-7EE6-4342-B048-85BDC9FD1C3A}</a:tableStyleId>
              </a:tblPr>
              <a:tblGrid>
                <a:gridCol w="1828800"/>
                <a:gridCol w="3200400"/>
                <a:gridCol w="6035040"/>
              </a:tblGrid>
              <a:tr h="365760">
                <a:tc>
                  <a:txBody>
                    <a:bodyPr wrap="square"/>
                    <a:lstStyle/>
                    <a:p>
                      <a:pPr algn="l">
                        <a:lnSpc>
                          <a:spcPct val="112000"/>
                        </a:lnSpc>
                      </a:pPr>
                      <a:r>
                        <a:rPr sz="1100" b="1">
                          <a:solidFill>
                            <a:srgbClr val="FFFFFF"/>
                          </a:solidFill>
                          <a:latin typeface="Segoe UI"/>
                        </a:rPr>
                        <a:t>Layer</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Technology</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Why this choice</a:t>
                      </a:r>
                    </a:p>
                  </a:txBody>
                  <a:tcPr marL="100584" marR="100584" marT="45720" marB="45720" anchor="ctr">
                    <a:solidFill>
                      <a:srgbClr val="0F766E"/>
                    </a:solidFill>
                  </a:tcPr>
                </a:tc>
              </a:tr>
              <a:tr h="484632">
                <a:tc>
                  <a:txBody>
                    <a:bodyPr wrap="square"/>
                    <a:lstStyle/>
                    <a:p>
                      <a:pPr algn="l">
                        <a:lnSpc>
                          <a:spcPct val="112000"/>
                        </a:lnSpc>
                      </a:pPr>
                      <a:r>
                        <a:rPr sz="1100" b="1">
                          <a:solidFill>
                            <a:srgbClr val="0F172A"/>
                          </a:solidFill>
                          <a:latin typeface="Segoe UI"/>
                        </a:rPr>
                        <a:t>Presentation</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React.js, Axios, Tailwind CSS</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Component reuse across 6 modules; SPA keeps chat responsive without full reloads</a:t>
                      </a:r>
                    </a:p>
                  </a:txBody>
                  <a:tcPr marL="100584" marR="100584" marT="45720" marB="45720" anchor="ctr">
                    <a:solidFill>
                      <a:srgbClr val="FFFFFF"/>
                    </a:solidFill>
                  </a:tcPr>
                </a:tc>
              </a:tr>
              <a:tr h="484632">
                <a:tc>
                  <a:txBody>
                    <a:bodyPr wrap="square"/>
                    <a:lstStyle/>
                    <a:p>
                      <a:pPr algn="l">
                        <a:lnSpc>
                          <a:spcPct val="112000"/>
                        </a:lnSpc>
                      </a:pPr>
                      <a:r>
                        <a:rPr sz="1100" b="1">
                          <a:solidFill>
                            <a:srgbClr val="0F172A"/>
                          </a:solidFill>
                          <a:latin typeface="Segoe UI"/>
                        </a:rPr>
                        <a:t>API / Gateway</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Node.js + Express.js</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Non-blocking I/O suits an AI-call-heavy, I/O-bound workload; middleware chain for cross-cutting concerns</a:t>
                      </a:r>
                    </a:p>
                  </a:txBody>
                  <a:tcPr marL="100584" marR="100584" marT="45720" marB="45720" anchor="ctr">
                    <a:solidFill>
                      <a:srgbClr val="F1F5F9"/>
                    </a:solidFill>
                  </a:tcPr>
                </a:tc>
              </a:tr>
              <a:tr h="484632">
                <a:tc>
                  <a:txBody>
                    <a:bodyPr wrap="square"/>
                    <a:lstStyle/>
                    <a:p>
                      <a:pPr algn="l">
                        <a:lnSpc>
                          <a:spcPct val="112000"/>
                        </a:lnSpc>
                      </a:pPr>
                      <a:r>
                        <a:rPr sz="1100" b="1">
                          <a:solidFill>
                            <a:srgbClr val="0F172A"/>
                          </a:solidFill>
                          <a:latin typeface="Segoe UI"/>
                        </a:rPr>
                        <a:t>Business Logic</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Express service modules</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Plain, testable JS services — triage rules, orchestration, scheduling; no framework lock-in</a:t>
                      </a:r>
                    </a:p>
                  </a:txBody>
                  <a:tcPr marL="100584" marR="100584" marT="45720" marB="45720" anchor="ctr">
                    <a:solidFill>
                      <a:srgbClr val="FFFFFF"/>
                    </a:solidFill>
                  </a:tcPr>
                </a:tc>
              </a:tr>
              <a:tr h="484632">
                <a:tc>
                  <a:txBody>
                    <a:bodyPr wrap="square"/>
                    <a:lstStyle/>
                    <a:p>
                      <a:pPr algn="l">
                        <a:lnSpc>
                          <a:spcPct val="112000"/>
                        </a:lnSpc>
                      </a:pPr>
                      <a:r>
                        <a:rPr sz="1100" b="1">
                          <a:solidFill>
                            <a:srgbClr val="0F172A"/>
                          </a:solidFill>
                          <a:latin typeface="Segoe UI"/>
                        </a:rPr>
                        <a:t>AI Service</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Gemini / OpenAI behind an adapter</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Provider swapped by config, never by code change; enables fallback and cost comparison</a:t>
                      </a:r>
                    </a:p>
                  </a:txBody>
                  <a:tcPr marL="100584" marR="100584" marT="45720" marB="45720" anchor="ctr">
                    <a:solidFill>
                      <a:srgbClr val="F1F5F9"/>
                    </a:solidFill>
                  </a:tcPr>
                </a:tc>
              </a:tr>
              <a:tr h="484632">
                <a:tc>
                  <a:txBody>
                    <a:bodyPr wrap="square"/>
                    <a:lstStyle/>
                    <a:p>
                      <a:pPr algn="l">
                        <a:lnSpc>
                          <a:spcPct val="112000"/>
                        </a:lnSpc>
                      </a:pPr>
                      <a:r>
                        <a:rPr sz="1100" b="1">
                          <a:solidFill>
                            <a:srgbClr val="0F172A"/>
                          </a:solidFill>
                          <a:latin typeface="Segoe UI"/>
                        </a:rPr>
                        <a:t>Database</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MongoDB (Atlas)</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Symptom sessions and reports are nested, evolving documents — a poor fit for rigid relational rows</a:t>
                      </a:r>
                    </a:p>
                  </a:txBody>
                  <a:tcPr marL="100584" marR="100584" marT="45720" marB="45720" anchor="ctr">
                    <a:solidFill>
                      <a:srgbClr val="FFFFFF"/>
                    </a:solidFill>
                  </a:tcPr>
                </a:tc>
              </a:tr>
              <a:tr h="484632">
                <a:tc>
                  <a:txBody>
                    <a:bodyPr wrap="square"/>
                    <a:lstStyle/>
                    <a:p>
                      <a:pPr algn="l">
                        <a:lnSpc>
                          <a:spcPct val="112000"/>
                        </a:lnSpc>
                      </a:pPr>
                      <a:r>
                        <a:rPr sz="1100" b="1">
                          <a:solidFill>
                            <a:srgbClr val="0F172A"/>
                          </a:solidFill>
                          <a:latin typeface="Segoe UI"/>
                        </a:rPr>
                        <a:t>Cache / Jobs</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Redis + node-cron</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Caches repeated AI answers; drives reminder scheduling and OCR off the request path</a:t>
                      </a:r>
                    </a:p>
                  </a:txBody>
                  <a:tcPr marL="100584" marR="100584" marT="45720" marB="45720" anchor="ctr">
                    <a:solidFill>
                      <a:srgbClr val="F1F5F9"/>
                    </a:solidFill>
                  </a:tcPr>
                </a:tc>
              </a:tr>
              <a:tr h="484632">
                <a:tc>
                  <a:txBody>
                    <a:bodyPr wrap="square"/>
                    <a:lstStyle/>
                    <a:p>
                      <a:pPr algn="l">
                        <a:lnSpc>
                          <a:spcPct val="112000"/>
                        </a:lnSpc>
                      </a:pPr>
                      <a:r>
                        <a:rPr sz="1100" b="1">
                          <a:solidFill>
                            <a:srgbClr val="0F172A"/>
                          </a:solidFill>
                          <a:latin typeface="Segoe UI"/>
                        </a:rPr>
                        <a:t>File Storage</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Cloud object storage (S3 / Cloudinary)</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Binary reports do not belong in a database; CDN delivery and signed URLs</a:t>
                      </a:r>
                    </a:p>
                  </a:txBody>
                  <a:tcPr marL="100584" marR="100584" marT="45720" marB="45720" anchor="ctr">
                    <a:solidFill>
                      <a:srgbClr val="FFFFFF"/>
                    </a:solidFill>
                  </a:tcPr>
                </a:tc>
              </a:tr>
              <a:tr h="484632">
                <a:tc>
                  <a:txBody>
                    <a:bodyPr wrap="square"/>
                    <a:lstStyle/>
                    <a:p>
                      <a:pPr algn="l">
                        <a:lnSpc>
                          <a:spcPct val="112000"/>
                        </a:lnSpc>
                      </a:pPr>
                      <a:r>
                        <a:rPr sz="1100" b="1">
                          <a:solidFill>
                            <a:srgbClr val="0F172A"/>
                          </a:solidFill>
                          <a:latin typeface="Segoe UI"/>
                        </a:rPr>
                        <a:t>Security</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JWT, bcrypt, Helmet, express-validator</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Stateless auth for horizontal scaling; hashing, headers and validation at the edge</a:t>
                      </a:r>
                    </a:p>
                  </a:txBody>
                  <a:tcPr marL="100584" marR="100584" marT="45720" marB="45720" anchor="ctr">
                    <a:solidFill>
                      <a:srgbClr val="F1F5F9"/>
                    </a:solidFill>
                  </a:tcPr>
                </a:tc>
              </a:tr>
              <a:tr h="484632">
                <a:tc>
                  <a:txBody>
                    <a:bodyPr wrap="square"/>
                    <a:lstStyle/>
                    <a:p>
                      <a:pPr algn="l">
                        <a:lnSpc>
                          <a:spcPct val="112000"/>
                        </a:lnSpc>
                      </a:pPr>
                      <a:r>
                        <a:rPr sz="1100" b="1">
                          <a:solidFill>
                            <a:srgbClr val="0F172A"/>
                          </a:solidFill>
                          <a:latin typeface="Segoe UI"/>
                        </a:rPr>
                        <a:t>Deployment</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Vercel (client) + Render / Cloud Run (API)</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Managed CI/CD from Git, HTTPS by default, environment-scoped secrets</a:t>
                      </a:r>
                    </a:p>
                  </a:txBody>
                  <a:tcPr marL="100584" marR="100584" marT="45720" marB="4572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LOGICAL VIEW</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Architectural Style: Layered (N-Tier)</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06</a:t>
            </a:r>
          </a:p>
        </p:txBody>
      </p:sp>
      <p:sp>
        <p:nvSpPr>
          <p:cNvPr id="8" name="Rounded Rectangle 7"/>
          <p:cNvSpPr/>
          <p:nvPr/>
        </p:nvSpPr>
        <p:spPr>
          <a:xfrm>
            <a:off x="566928" y="1417320"/>
            <a:ext cx="8778240" cy="731520"/>
          </a:xfrm>
          <a:prstGeom prst="roundRect">
            <a:avLst>
              <a:gd name="adj" fmla="val 1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868680" y="1536192"/>
            <a:ext cx="8229600" cy="530352"/>
          </a:xfrm>
          <a:prstGeom prst="rect">
            <a:avLst/>
          </a:prstGeom>
          <a:noFill/>
        </p:spPr>
        <p:txBody>
          <a:bodyPr wrap="square" anchor="t" lIns="0" rIns="0" tIns="0" bIns="0">
            <a:spAutoFit/>
          </a:bodyPr>
          <a:lstStyle/>
          <a:p>
            <a:pPr algn="l">
              <a:lnSpc>
                <a:spcPct val="125000"/>
              </a:lnSpc>
              <a:spcBef>
                <a:spcPts val="0"/>
              </a:spcBef>
              <a:spcAft>
                <a:spcPts val="300"/>
              </a:spcAft>
            </a:pPr>
            <a:r>
              <a:rPr sz="1300" b="1" i="0">
                <a:solidFill>
                  <a:srgbClr val="075A8C"/>
                </a:solidFill>
                <a:latin typeface="Segoe UI"/>
              </a:rPr>
              <a:t>PRESENTATION LAYER</a:t>
            </a:r>
          </a:p>
          <a:p>
            <a:pPr algn="l">
              <a:lnSpc>
                <a:spcPct val="125000"/>
              </a:lnSpc>
              <a:spcBef>
                <a:spcPts val="0"/>
              </a:spcBef>
              <a:spcAft>
                <a:spcPts val="0"/>
              </a:spcAft>
            </a:pPr>
            <a:r>
              <a:rPr sz="1050" b="0" i="0">
                <a:solidFill>
                  <a:srgbClr val="475569"/>
                </a:solidFill>
                <a:latin typeface="Segoe UI"/>
              </a:rPr>
              <a:t>React SPA  ·  Components, Router, State, Axios client, Form validation</a:t>
            </a:r>
          </a:p>
        </p:txBody>
      </p:sp>
      <p:sp>
        <p:nvSpPr>
          <p:cNvPr id="10" name="Down Arrow 9"/>
          <p:cNvSpPr/>
          <p:nvPr/>
        </p:nvSpPr>
        <p:spPr>
          <a:xfrm>
            <a:off x="4828032" y="2167128"/>
            <a:ext cx="256032" cy="109728"/>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566928" y="2295144"/>
            <a:ext cx="8778240" cy="731520"/>
          </a:xfrm>
          <a:prstGeom prst="roundRect">
            <a:avLst>
              <a:gd name="adj" fmla="val 1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868680" y="2414015"/>
            <a:ext cx="8229600" cy="530352"/>
          </a:xfrm>
          <a:prstGeom prst="rect">
            <a:avLst/>
          </a:prstGeom>
          <a:noFill/>
        </p:spPr>
        <p:txBody>
          <a:bodyPr wrap="square" anchor="t" lIns="0" rIns="0" tIns="0" bIns="0">
            <a:spAutoFit/>
          </a:bodyPr>
          <a:lstStyle/>
          <a:p>
            <a:pPr algn="l">
              <a:lnSpc>
                <a:spcPct val="125000"/>
              </a:lnSpc>
              <a:spcBef>
                <a:spcPts val="0"/>
              </a:spcBef>
              <a:spcAft>
                <a:spcPts val="300"/>
              </a:spcAft>
            </a:pPr>
            <a:r>
              <a:rPr sz="1300" b="1" i="0">
                <a:solidFill>
                  <a:srgbClr val="0F766E"/>
                </a:solidFill>
                <a:latin typeface="Segoe UI"/>
              </a:rPr>
              <a:t>API / GATEWAY LAYER</a:t>
            </a:r>
          </a:p>
          <a:p>
            <a:pPr algn="l">
              <a:lnSpc>
                <a:spcPct val="125000"/>
              </a:lnSpc>
              <a:spcBef>
                <a:spcPts val="0"/>
              </a:spcBef>
              <a:spcAft>
                <a:spcPts val="0"/>
              </a:spcAft>
            </a:pPr>
            <a:r>
              <a:rPr sz="1050" b="0" i="0">
                <a:solidFill>
                  <a:srgbClr val="475569"/>
                </a:solidFill>
                <a:latin typeface="Segoe UI"/>
              </a:rPr>
              <a:t>Express routes  ·  REST endpoints, JWT verify, rate limit, schema validation, error envelope</a:t>
            </a:r>
          </a:p>
        </p:txBody>
      </p:sp>
      <p:sp>
        <p:nvSpPr>
          <p:cNvPr id="13" name="Down Arrow 12"/>
          <p:cNvSpPr/>
          <p:nvPr/>
        </p:nvSpPr>
        <p:spPr>
          <a:xfrm>
            <a:off x="4828032" y="3044951"/>
            <a:ext cx="256032" cy="109728"/>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66928" y="3172968"/>
            <a:ext cx="8778240" cy="731520"/>
          </a:xfrm>
          <a:prstGeom prst="roundRect">
            <a:avLst>
              <a:gd name="adj" fmla="val 1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868680" y="3291839"/>
            <a:ext cx="8229600" cy="530352"/>
          </a:xfrm>
          <a:prstGeom prst="rect">
            <a:avLst/>
          </a:prstGeom>
          <a:noFill/>
        </p:spPr>
        <p:txBody>
          <a:bodyPr wrap="square" anchor="t" lIns="0" rIns="0" tIns="0" bIns="0">
            <a:spAutoFit/>
          </a:bodyPr>
          <a:lstStyle/>
          <a:p>
            <a:pPr algn="l">
              <a:lnSpc>
                <a:spcPct val="125000"/>
              </a:lnSpc>
              <a:spcBef>
                <a:spcPts val="0"/>
              </a:spcBef>
              <a:spcAft>
                <a:spcPts val="300"/>
              </a:spcAft>
            </a:pPr>
            <a:r>
              <a:rPr sz="1300" b="1" i="0">
                <a:solidFill>
                  <a:srgbClr val="15803D"/>
                </a:solidFill>
                <a:latin typeface="Segoe UI"/>
              </a:rPr>
              <a:t>BUSINESS LOGIC LAYER</a:t>
            </a:r>
          </a:p>
          <a:p>
            <a:pPr algn="l">
              <a:lnSpc>
                <a:spcPct val="125000"/>
              </a:lnSpc>
              <a:spcBef>
                <a:spcPts val="0"/>
              </a:spcBef>
              <a:spcAft>
                <a:spcPts val="0"/>
              </a:spcAft>
            </a:pPr>
            <a:r>
              <a:rPr sz="1050" b="0" i="0">
                <a:solidFill>
                  <a:srgbClr val="475569"/>
                </a:solidFill>
                <a:latin typeface="Segoe UI"/>
              </a:rPr>
              <a:t>Triage rules engine  ·  Session orchestrator  ·  Reminder scheduler  ·  History service</a:t>
            </a:r>
          </a:p>
        </p:txBody>
      </p:sp>
      <p:sp>
        <p:nvSpPr>
          <p:cNvPr id="16" name="Down Arrow 15"/>
          <p:cNvSpPr/>
          <p:nvPr/>
        </p:nvSpPr>
        <p:spPr>
          <a:xfrm>
            <a:off x="4828032" y="3922776"/>
            <a:ext cx="256032" cy="109728"/>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566928" y="4050791"/>
            <a:ext cx="8778240" cy="731520"/>
          </a:xfrm>
          <a:prstGeom prst="roundRect">
            <a:avLst>
              <a:gd name="adj" fmla="val 1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868680" y="4169663"/>
            <a:ext cx="8229600" cy="530352"/>
          </a:xfrm>
          <a:prstGeom prst="rect">
            <a:avLst/>
          </a:prstGeom>
          <a:noFill/>
        </p:spPr>
        <p:txBody>
          <a:bodyPr wrap="square" anchor="t" lIns="0" rIns="0" tIns="0" bIns="0">
            <a:spAutoFit/>
          </a:bodyPr>
          <a:lstStyle/>
          <a:p>
            <a:pPr algn="l">
              <a:lnSpc>
                <a:spcPct val="125000"/>
              </a:lnSpc>
              <a:spcBef>
                <a:spcPts val="0"/>
              </a:spcBef>
              <a:spcAft>
                <a:spcPts val="300"/>
              </a:spcAft>
            </a:pPr>
            <a:r>
              <a:rPr sz="1300" b="1" i="0">
                <a:solidFill>
                  <a:srgbClr val="4338CA"/>
                </a:solidFill>
                <a:latin typeface="Segoe UI"/>
              </a:rPr>
              <a:t>AI SERVICE LAYER</a:t>
            </a:r>
          </a:p>
          <a:p>
            <a:pPr algn="l">
              <a:lnSpc>
                <a:spcPct val="125000"/>
              </a:lnSpc>
              <a:spcBef>
                <a:spcPts val="0"/>
              </a:spcBef>
              <a:spcAft>
                <a:spcPts val="0"/>
              </a:spcAft>
            </a:pPr>
            <a:r>
              <a:rPr sz="1050" b="0" i="0">
                <a:solidFill>
                  <a:srgbClr val="475569"/>
                </a:solidFill>
                <a:latin typeface="Segoe UI"/>
              </a:rPr>
              <a:t>Provider adapter  ·  Prompt templates  ·  PII redaction  ·  Response validator  ·  Circuit breaker</a:t>
            </a:r>
          </a:p>
        </p:txBody>
      </p:sp>
      <p:sp>
        <p:nvSpPr>
          <p:cNvPr id="19" name="Down Arrow 18"/>
          <p:cNvSpPr/>
          <p:nvPr/>
        </p:nvSpPr>
        <p:spPr>
          <a:xfrm>
            <a:off x="4828032" y="4800600"/>
            <a:ext cx="256032" cy="109728"/>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66928" y="4928616"/>
            <a:ext cx="8778240" cy="731520"/>
          </a:xfrm>
          <a:prstGeom prst="roundRect">
            <a:avLst>
              <a:gd name="adj" fmla="val 1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868680" y="5047488"/>
            <a:ext cx="8229600" cy="530352"/>
          </a:xfrm>
          <a:prstGeom prst="rect">
            <a:avLst/>
          </a:prstGeom>
          <a:noFill/>
        </p:spPr>
        <p:txBody>
          <a:bodyPr wrap="square" anchor="t" lIns="0" rIns="0" tIns="0" bIns="0">
            <a:spAutoFit/>
          </a:bodyPr>
          <a:lstStyle/>
          <a:p>
            <a:pPr algn="l">
              <a:lnSpc>
                <a:spcPct val="125000"/>
              </a:lnSpc>
              <a:spcBef>
                <a:spcPts val="0"/>
              </a:spcBef>
              <a:spcAft>
                <a:spcPts val="300"/>
              </a:spcAft>
            </a:pPr>
            <a:r>
              <a:rPr sz="1300" b="1" i="0">
                <a:solidFill>
                  <a:srgbClr val="92400E"/>
                </a:solidFill>
                <a:latin typeface="Segoe UI"/>
              </a:rPr>
              <a:t>DATA ACCESS LAYER</a:t>
            </a:r>
          </a:p>
          <a:p>
            <a:pPr algn="l">
              <a:lnSpc>
                <a:spcPct val="125000"/>
              </a:lnSpc>
              <a:spcBef>
                <a:spcPts val="0"/>
              </a:spcBef>
              <a:spcAft>
                <a:spcPts val="0"/>
              </a:spcAft>
            </a:pPr>
            <a:r>
              <a:rPr sz="1050" b="0" i="0">
                <a:solidFill>
                  <a:srgbClr val="475569"/>
                </a:solidFill>
                <a:latin typeface="Segoe UI"/>
              </a:rPr>
              <a:t>Repositories  ·  Mongoose models  ·  Redis cache  ·  Object storage client</a:t>
            </a:r>
          </a:p>
        </p:txBody>
      </p:sp>
      <p:sp>
        <p:nvSpPr>
          <p:cNvPr id="22" name="Rounded Rectangle 21"/>
          <p:cNvSpPr/>
          <p:nvPr/>
        </p:nvSpPr>
        <p:spPr>
          <a:xfrm>
            <a:off x="9546336" y="1417320"/>
            <a:ext cx="2084831" cy="4242816"/>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TextBox 22"/>
          <p:cNvSpPr txBox="1"/>
          <p:nvPr/>
        </p:nvSpPr>
        <p:spPr>
          <a:xfrm>
            <a:off x="9729216" y="1600200"/>
            <a:ext cx="1737360" cy="3931920"/>
          </a:xfrm>
          <a:prstGeom prst="rect">
            <a:avLst/>
          </a:prstGeom>
          <a:noFill/>
        </p:spPr>
        <p:txBody>
          <a:bodyPr wrap="square" anchor="t" lIns="0" rIns="0" tIns="0" bIns="0">
            <a:spAutoFit/>
          </a:bodyPr>
          <a:lstStyle/>
          <a:p>
            <a:pPr algn="l">
              <a:lnSpc>
                <a:spcPct val="120000"/>
              </a:lnSpc>
              <a:spcBef>
                <a:spcPts val="0"/>
              </a:spcBef>
              <a:spcAft>
                <a:spcPts val="1200"/>
              </a:spcAft>
            </a:pPr>
            <a:r>
              <a:rPr sz="1000" b="1" i="0">
                <a:solidFill>
                  <a:srgbClr val="0F172A"/>
                </a:solidFill>
                <a:latin typeface="Segoe UI"/>
              </a:rPr>
              <a:t>CROSS-CUTTING
CONCERNS</a:t>
            </a:r>
          </a:p>
          <a:p>
            <a:pPr marL="182880" indent="-182880">
              <a:lnSpc>
                <a:spcPct val="122000"/>
              </a:lnSpc>
              <a:spcAft>
                <a:spcPts val="700"/>
              </a:spcAft>
              <a:buClr>
                <a:srgbClr val="0D9488"/>
              </a:buClr>
              <a:buSzPct val="95000"/>
              <a:buFont typeface="Arial" pitchFamily="34" charset="0"/>
              <a:buChar char="•"/>
            </a:pPr>
            <a:r>
              <a:rPr sz="1050" b="0">
                <a:solidFill>
                  <a:srgbClr val="475569"/>
                </a:solidFill>
                <a:latin typeface="Segoe UI"/>
              </a:rPr>
              <a:t>Authentication</a:t>
            </a:r>
          </a:p>
          <a:p>
            <a:pPr marL="182880" indent="-182880">
              <a:lnSpc>
                <a:spcPct val="122000"/>
              </a:lnSpc>
              <a:spcAft>
                <a:spcPts val="700"/>
              </a:spcAft>
              <a:buClr>
                <a:srgbClr val="0D9488"/>
              </a:buClr>
              <a:buSzPct val="95000"/>
              <a:buFont typeface="Arial" pitchFamily="34" charset="0"/>
              <a:buChar char="•"/>
            </a:pPr>
            <a:r>
              <a:rPr sz="1050" b="0">
                <a:solidFill>
                  <a:srgbClr val="475569"/>
                </a:solidFill>
                <a:latin typeface="Segoe UI"/>
              </a:rPr>
              <a:t>Authorization</a:t>
            </a:r>
          </a:p>
          <a:p>
            <a:pPr marL="182880" indent="-182880">
              <a:lnSpc>
                <a:spcPct val="122000"/>
              </a:lnSpc>
              <a:spcAft>
                <a:spcPts val="700"/>
              </a:spcAft>
              <a:buClr>
                <a:srgbClr val="0D9488"/>
              </a:buClr>
              <a:buSzPct val="95000"/>
              <a:buFont typeface="Arial" pitchFamily="34" charset="0"/>
              <a:buChar char="•"/>
            </a:pPr>
            <a:r>
              <a:rPr sz="1050" b="0">
                <a:solidFill>
                  <a:srgbClr val="475569"/>
                </a:solidFill>
                <a:latin typeface="Segoe UI"/>
              </a:rPr>
              <a:t>Input validation</a:t>
            </a:r>
          </a:p>
          <a:p>
            <a:pPr marL="182880" indent="-182880">
              <a:lnSpc>
                <a:spcPct val="122000"/>
              </a:lnSpc>
              <a:spcAft>
                <a:spcPts val="700"/>
              </a:spcAft>
              <a:buClr>
                <a:srgbClr val="0D9488"/>
              </a:buClr>
              <a:buSzPct val="95000"/>
              <a:buFont typeface="Arial" pitchFamily="34" charset="0"/>
              <a:buChar char="•"/>
            </a:pPr>
            <a:r>
              <a:rPr sz="1050" b="0">
                <a:solidFill>
                  <a:srgbClr val="475569"/>
                </a:solidFill>
                <a:latin typeface="Segoe UI"/>
              </a:rPr>
              <a:t>Logging &amp; audit</a:t>
            </a:r>
          </a:p>
          <a:p>
            <a:pPr marL="182880" indent="-182880">
              <a:lnSpc>
                <a:spcPct val="122000"/>
              </a:lnSpc>
              <a:spcAft>
                <a:spcPts val="700"/>
              </a:spcAft>
              <a:buClr>
                <a:srgbClr val="0D9488"/>
              </a:buClr>
              <a:buSzPct val="95000"/>
              <a:buFont typeface="Arial" pitchFamily="34" charset="0"/>
              <a:buChar char="•"/>
            </a:pPr>
            <a:r>
              <a:rPr sz="1050" b="0">
                <a:solidFill>
                  <a:srgbClr val="475569"/>
                </a:solidFill>
                <a:latin typeface="Segoe UI"/>
              </a:rPr>
              <a:t>Error handling</a:t>
            </a:r>
          </a:p>
          <a:p>
            <a:pPr marL="182880" indent="-182880">
              <a:lnSpc>
                <a:spcPct val="122000"/>
              </a:lnSpc>
              <a:spcAft>
                <a:spcPts val="700"/>
              </a:spcAft>
              <a:buClr>
                <a:srgbClr val="0D9488"/>
              </a:buClr>
              <a:buSzPct val="95000"/>
              <a:buFont typeface="Arial" pitchFamily="34" charset="0"/>
              <a:buChar char="•"/>
            </a:pPr>
            <a:r>
              <a:rPr sz="1050" b="0">
                <a:solidFill>
                  <a:srgbClr val="475569"/>
                </a:solidFill>
                <a:latin typeface="Segoe UI"/>
              </a:rPr>
              <a:t>Configuration</a:t>
            </a:r>
          </a:p>
          <a:p>
            <a:pPr marL="182880" indent="-182880">
              <a:lnSpc>
                <a:spcPct val="122000"/>
              </a:lnSpc>
              <a:spcAft>
                <a:spcPts val="700"/>
              </a:spcAft>
              <a:buClr>
                <a:srgbClr val="0D9488"/>
              </a:buClr>
              <a:buSzPct val="95000"/>
              <a:buFont typeface="Arial" pitchFamily="34" charset="0"/>
              <a:buChar char="•"/>
            </a:pPr>
            <a:r>
              <a:rPr sz="1050" b="0">
                <a:solidFill>
                  <a:srgbClr val="475569"/>
                </a:solidFill>
                <a:latin typeface="Segoe UI"/>
              </a:rPr>
              <a:t>Caching</a:t>
            </a:r>
          </a:p>
          <a:p>
            <a:pPr marL="182880" indent="-182880">
              <a:lnSpc>
                <a:spcPct val="122000"/>
              </a:lnSpc>
              <a:spcAft>
                <a:spcPts val="700"/>
              </a:spcAft>
              <a:buClr>
                <a:srgbClr val="0D9488"/>
              </a:buClr>
              <a:buSzPct val="95000"/>
              <a:buFont typeface="Arial" pitchFamily="34" charset="0"/>
              <a:buChar char="•"/>
            </a:pPr>
            <a:r>
              <a:rPr sz="1050" b="0">
                <a:solidFill>
                  <a:srgbClr val="475569"/>
                </a:solidFill>
                <a:latin typeface="Segoe UI"/>
              </a:rPr>
              <a:t>Observability</a:t>
            </a:r>
          </a:p>
        </p:txBody>
      </p:sp>
      <p:sp>
        <p:nvSpPr>
          <p:cNvPr id="24" name="Rounded Rectangle 23"/>
          <p:cNvSpPr/>
          <p:nvPr/>
        </p:nvSpPr>
        <p:spPr>
          <a:xfrm>
            <a:off x="566928" y="5815584"/>
            <a:ext cx="11064240" cy="402336"/>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0">
                <a:solidFill>
                  <a:srgbClr val="475569"/>
                </a:solidFill>
                <a:latin typeface="Segoe UI"/>
              </a:rPr>
              <a:t>Rule of the style:  each layer calls only the layer directly below it — no skipping, no upward calls.  →  swap MongoDB for MySQL and only the Data Layer changes.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LOGICAL VIEW</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Layer Responsibilities &amp; Contracts</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07</a:t>
            </a:r>
          </a:p>
        </p:txBody>
      </p:sp>
      <p:graphicFrame>
        <p:nvGraphicFramePr>
          <p:cNvPr id="8" name="Table 7"/>
          <p:cNvGraphicFramePr>
            <a:graphicFrameLocks noGrp="1"/>
          </p:cNvGraphicFramePr>
          <p:nvPr/>
        </p:nvGraphicFramePr>
        <p:xfrm>
          <a:off x="566928" y="1371600"/>
          <a:ext cx="11064239" cy="4297680"/>
        </p:xfrm>
        <a:graphic>
          <a:graphicData uri="http://schemas.openxmlformats.org/drawingml/2006/table">
            <a:tbl>
              <a:tblPr>
                <a:tableStyleId>{5C22544A-7EE6-4342-B048-85BDC9FD1C3A}</a:tableStyleId>
              </a:tblPr>
              <a:tblGrid>
                <a:gridCol w="1567434"/>
                <a:gridCol w="3780281"/>
                <a:gridCol w="2397252"/>
                <a:gridCol w="3319272"/>
              </a:tblGrid>
              <a:tr h="365760">
                <a:tc>
                  <a:txBody>
                    <a:bodyPr wrap="square"/>
                    <a:lstStyle/>
                    <a:p>
                      <a:pPr algn="l">
                        <a:lnSpc>
                          <a:spcPct val="112000"/>
                        </a:lnSpc>
                      </a:pPr>
                      <a:r>
                        <a:rPr sz="1100" b="1">
                          <a:solidFill>
                            <a:srgbClr val="FFFFFF"/>
                          </a:solidFill>
                          <a:latin typeface="Segoe UI"/>
                        </a:rPr>
                        <a:t>Layer</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Owns</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Talks to</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Must never</a:t>
                      </a:r>
                    </a:p>
                  </a:txBody>
                  <a:tcPr marL="100584" marR="100584" marT="45720" marB="45720" anchor="ctr">
                    <a:solidFill>
                      <a:srgbClr val="0F766E"/>
                    </a:solidFill>
                  </a:tcPr>
                </a:tc>
              </a:tr>
              <a:tr h="786384">
                <a:tc>
                  <a:txBody>
                    <a:bodyPr wrap="square"/>
                    <a:lstStyle/>
                    <a:p>
                      <a:pPr algn="l">
                        <a:lnSpc>
                          <a:spcPct val="112000"/>
                        </a:lnSpc>
                      </a:pPr>
                      <a:r>
                        <a:rPr sz="1100" b="1">
                          <a:solidFill>
                            <a:srgbClr val="0F172A"/>
                          </a:solidFill>
                          <a:latin typeface="Segoe UI"/>
                        </a:rPr>
                        <a:t>Presentation</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Rendering, client-side validation, session token storage, UX state</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API Layer over HTTPS/JSON only</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Hold business rules or database credentials</a:t>
                      </a:r>
                    </a:p>
                  </a:txBody>
                  <a:tcPr marL="100584" marR="100584" marT="45720" marB="45720" anchor="ctr">
                    <a:solidFill>
                      <a:srgbClr val="FFFFFF"/>
                    </a:solidFill>
                  </a:tcPr>
                </a:tc>
              </a:tr>
              <a:tr h="786384">
                <a:tc>
                  <a:txBody>
                    <a:bodyPr wrap="square"/>
                    <a:lstStyle/>
                    <a:p>
                      <a:pPr algn="l">
                        <a:lnSpc>
                          <a:spcPct val="112000"/>
                        </a:lnSpc>
                      </a:pPr>
                      <a:r>
                        <a:rPr sz="1100" b="1">
                          <a:solidFill>
                            <a:srgbClr val="0F172A"/>
                          </a:solidFill>
                          <a:latin typeface="Segoe UI"/>
                        </a:rPr>
                        <a:t>API / Gateway</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Routing, authN/authZ, request schema validation, rate limiting, error shaping</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Business Logic Layer</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Contain medical logic or query the database directly</a:t>
                      </a:r>
                    </a:p>
                  </a:txBody>
                  <a:tcPr marL="100584" marR="100584" marT="45720" marB="45720" anchor="ctr">
                    <a:solidFill>
                      <a:srgbClr val="F1F5F9"/>
                    </a:solidFill>
                  </a:tcPr>
                </a:tc>
              </a:tr>
              <a:tr h="786384">
                <a:tc>
                  <a:txBody>
                    <a:bodyPr wrap="square"/>
                    <a:lstStyle/>
                    <a:p>
                      <a:pPr algn="l">
                        <a:lnSpc>
                          <a:spcPct val="112000"/>
                        </a:lnSpc>
                      </a:pPr>
                      <a:r>
                        <a:rPr sz="1100" b="1">
                          <a:solidFill>
                            <a:srgbClr val="0F172A"/>
                          </a:solidFill>
                          <a:latin typeface="Segoe UI"/>
                        </a:rPr>
                        <a:t>Business Logic</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Triage rules, orchestration, scheduling, history assembly, policy</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AI Service + Data Access</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Know about HTTP, req/res objects or the AI vendor</a:t>
                      </a:r>
                    </a:p>
                  </a:txBody>
                  <a:tcPr marL="100584" marR="100584" marT="45720" marB="45720" anchor="ctr">
                    <a:solidFill>
                      <a:srgbClr val="FFFFFF"/>
                    </a:solidFill>
                  </a:tcPr>
                </a:tc>
              </a:tr>
              <a:tr h="786384">
                <a:tc>
                  <a:txBody>
                    <a:bodyPr wrap="square"/>
                    <a:lstStyle/>
                    <a:p>
                      <a:pPr algn="l">
                        <a:lnSpc>
                          <a:spcPct val="112000"/>
                        </a:lnSpc>
                      </a:pPr>
                      <a:r>
                        <a:rPr sz="1100" b="1">
                          <a:solidFill>
                            <a:srgbClr val="0F172A"/>
                          </a:solidFill>
                          <a:latin typeface="Segoe UI"/>
                        </a:rPr>
                        <a:t>AI Service</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Prompt building, redaction, provider calls, retries, response validation</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External AI provider; returns DTOs</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Persist data or expose vendor-specific types upward</a:t>
                      </a:r>
                    </a:p>
                  </a:txBody>
                  <a:tcPr marL="100584" marR="100584" marT="45720" marB="45720" anchor="ctr">
                    <a:solidFill>
                      <a:srgbClr val="F1F5F9"/>
                    </a:solidFill>
                  </a:tcPr>
                </a:tc>
              </a:tr>
              <a:tr h="786384">
                <a:tc>
                  <a:txBody>
                    <a:bodyPr wrap="square"/>
                    <a:lstStyle/>
                    <a:p>
                      <a:pPr algn="l">
                        <a:lnSpc>
                          <a:spcPct val="112000"/>
                        </a:lnSpc>
                      </a:pPr>
                      <a:r>
                        <a:rPr sz="1100" b="1">
                          <a:solidFill>
                            <a:srgbClr val="0F172A"/>
                          </a:solidFill>
                          <a:latin typeface="Segoe UI"/>
                        </a:rPr>
                        <a:t>Data Access</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CRUD, queries, indexing, caching, file persistence</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MongoDB, Redis, object storage</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Apply business rules or return raw driver objects</a:t>
                      </a:r>
                    </a:p>
                  </a:txBody>
                  <a:tcPr marL="100584" marR="100584" marT="45720" marB="45720"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DEVELOPMENT VIEW</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Component View</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08</a:t>
            </a:r>
          </a:p>
        </p:txBody>
      </p:sp>
      <p:sp>
        <p:nvSpPr>
          <p:cNvPr id="8" name="Rounded Rectangle 7"/>
          <p:cNvSpPr/>
          <p:nvPr/>
        </p:nvSpPr>
        <p:spPr>
          <a:xfrm>
            <a:off x="566928" y="1389888"/>
            <a:ext cx="3520440" cy="41148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ounded Rectangle 8"/>
          <p:cNvSpPr/>
          <p:nvPr/>
        </p:nvSpPr>
        <p:spPr>
          <a:xfrm>
            <a:off x="566928" y="1389888"/>
            <a:ext cx="3520440" cy="457200"/>
          </a:xfrm>
          <a:prstGeom prst="roundRect">
            <a:avLst>
              <a:gd name="adj" fmla="val 1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1">
                <a:solidFill>
                  <a:srgbClr val="075A8C"/>
                </a:solidFill>
                <a:latin typeface="Segoe UI"/>
              </a:rPr>
              <a:t>CLIENT  ·  React</a:t>
            </a:r>
          </a:p>
        </p:txBody>
      </p:sp>
      <p:sp>
        <p:nvSpPr>
          <p:cNvPr id="10" name="TextBox 9"/>
          <p:cNvSpPr txBox="1"/>
          <p:nvPr/>
        </p:nvSpPr>
        <p:spPr>
          <a:xfrm>
            <a:off x="804672" y="2011680"/>
            <a:ext cx="3063240" cy="3383280"/>
          </a:xfrm>
          <a:prstGeom prst="rect">
            <a:avLst/>
          </a:prstGeom>
          <a:noFill/>
        </p:spPr>
        <p:txBody>
          <a:bodyPr wrap="square" anchor="t" lIns="0" rIns="0" tIns="0" bIns="0">
            <a:spAutoFit/>
          </a:bodyPr>
          <a:lstStyle/>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AuthPages  (login / register)</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SymptomIntakeForm</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ChatWindow</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ReportUploader</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ReminderManager</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HistoryTimeline</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ApiClient  (Axios + interceptors)</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AuthContext  (token, guard routes)</a:t>
            </a:r>
          </a:p>
        </p:txBody>
      </p:sp>
      <p:sp>
        <p:nvSpPr>
          <p:cNvPr id="11" name="Rounded Rectangle 10"/>
          <p:cNvSpPr/>
          <p:nvPr/>
        </p:nvSpPr>
        <p:spPr>
          <a:xfrm>
            <a:off x="4315968" y="1389888"/>
            <a:ext cx="3520440" cy="41148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ounded Rectangle 11"/>
          <p:cNvSpPr/>
          <p:nvPr/>
        </p:nvSpPr>
        <p:spPr>
          <a:xfrm>
            <a:off x="4315968" y="1389888"/>
            <a:ext cx="3520440" cy="457200"/>
          </a:xfrm>
          <a:prstGeom prst="roundRect">
            <a:avLst>
              <a:gd name="adj" fmla="val 1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1">
                <a:solidFill>
                  <a:srgbClr val="0F766E"/>
                </a:solidFill>
                <a:latin typeface="Segoe UI"/>
              </a:rPr>
              <a:t>SERVER  ·  Express</a:t>
            </a:r>
          </a:p>
        </p:txBody>
      </p:sp>
      <p:sp>
        <p:nvSpPr>
          <p:cNvPr id="13" name="TextBox 12"/>
          <p:cNvSpPr txBox="1"/>
          <p:nvPr/>
        </p:nvSpPr>
        <p:spPr>
          <a:xfrm>
            <a:off x="4553712" y="2011680"/>
            <a:ext cx="3063240" cy="3383280"/>
          </a:xfrm>
          <a:prstGeom prst="rect">
            <a:avLst/>
          </a:prstGeom>
          <a:noFill/>
        </p:spPr>
        <p:txBody>
          <a:bodyPr wrap="square" anchor="t" lIns="0" rIns="0" tIns="0" bIns="0">
            <a:spAutoFit/>
          </a:bodyPr>
          <a:lstStyle/>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authController + authService</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symptomController</a:t>
            </a:r>
          </a:p>
          <a:p>
            <a:pPr marL="182880" indent="-182880">
              <a:lnSpc>
                <a:spcPct val="122000"/>
              </a:lnSpc>
              <a:spcAft>
                <a:spcPts val="1050"/>
              </a:spcAft>
              <a:buClr>
                <a:srgbClr val="BE123C"/>
              </a:buClr>
              <a:buSzPct val="80000"/>
              <a:buFont typeface="Arial" pitchFamily="34" charset="0"/>
              <a:buChar char="▪"/>
            </a:pPr>
            <a:r>
              <a:rPr sz="1100" b="1">
                <a:solidFill>
                  <a:srgbClr val="0F766E"/>
                </a:solidFill>
                <a:latin typeface="Segoe UI"/>
              </a:rPr>
              <a:t>TriageRulesEngine</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AiOrchestrator</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reportService + OcrWorker</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reminderService + CronScheduler</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historyService</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middleware/  auth, validate, error, limit</a:t>
            </a:r>
          </a:p>
        </p:txBody>
      </p:sp>
      <p:sp>
        <p:nvSpPr>
          <p:cNvPr id="14" name="Rounded Rectangle 13"/>
          <p:cNvSpPr/>
          <p:nvPr/>
        </p:nvSpPr>
        <p:spPr>
          <a:xfrm>
            <a:off x="8065007" y="1389888"/>
            <a:ext cx="3520440" cy="41148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Rounded Rectangle 14"/>
          <p:cNvSpPr/>
          <p:nvPr/>
        </p:nvSpPr>
        <p:spPr>
          <a:xfrm>
            <a:off x="8065007" y="1389888"/>
            <a:ext cx="3520440" cy="457200"/>
          </a:xfrm>
          <a:prstGeom prst="roundRect">
            <a:avLst>
              <a:gd name="adj" fmla="val 1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1">
                <a:solidFill>
                  <a:srgbClr val="92400E"/>
                </a:solidFill>
                <a:latin typeface="Segoe UI"/>
              </a:rPr>
              <a:t>DATA &amp; EXTERNAL</a:t>
            </a:r>
          </a:p>
        </p:txBody>
      </p:sp>
      <p:sp>
        <p:nvSpPr>
          <p:cNvPr id="16" name="TextBox 15"/>
          <p:cNvSpPr txBox="1"/>
          <p:nvPr/>
        </p:nvSpPr>
        <p:spPr>
          <a:xfrm>
            <a:off x="8302751" y="2011680"/>
            <a:ext cx="3063240" cy="3383280"/>
          </a:xfrm>
          <a:prstGeom prst="rect">
            <a:avLst/>
          </a:prstGeom>
          <a:noFill/>
        </p:spPr>
        <p:txBody>
          <a:bodyPr wrap="square" anchor="t" lIns="0" rIns="0" tIns="0" bIns="0">
            <a:spAutoFit/>
          </a:bodyPr>
          <a:lstStyle/>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UserRepository</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SymptomSessionRepository</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ReportRepository</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ReminderRepository</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AuditLogRepository</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RedisCacheClient</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ObjectStorageClient</a:t>
            </a:r>
          </a:p>
          <a:p>
            <a:pPr marL="182880" indent="-182880">
              <a:lnSpc>
                <a:spcPct val="122000"/>
              </a:lnSpc>
              <a:spcAft>
                <a:spcPts val="1050"/>
              </a:spcAft>
              <a:buClr>
                <a:srgbClr val="94A3B8"/>
              </a:buClr>
              <a:buSzPct val="80000"/>
              <a:buFont typeface="Arial" pitchFamily="34" charset="0"/>
              <a:buChar char="▪"/>
            </a:pPr>
            <a:r>
              <a:rPr sz="1100" b="0">
                <a:solidFill>
                  <a:srgbClr val="475569"/>
                </a:solidFill>
                <a:latin typeface="Segoe UI"/>
              </a:rPr>
              <a:t>AiProviderAdapter  → Gemini / OpenAI</a:t>
            </a:r>
          </a:p>
        </p:txBody>
      </p:sp>
      <p:sp>
        <p:nvSpPr>
          <p:cNvPr id="17" name="Rounded Rectangle 16"/>
          <p:cNvSpPr/>
          <p:nvPr/>
        </p:nvSpPr>
        <p:spPr>
          <a:xfrm>
            <a:off x="566928" y="5705856"/>
            <a:ext cx="11064240" cy="402336"/>
          </a:xfrm>
          <a:prstGeom prst="roundRect">
            <a:avLst>
              <a:gd name="adj" fmla="val 10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0">
                <a:solidFill>
                  <a:srgbClr val="0F766E"/>
                </a:solidFill>
                <a:latin typeface="Segoe UI"/>
              </a:rPr>
              <a:t>★  TriageRulesEngine is deterministic and runs before any AI call — the safety core of the system.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PROCESS VIEW</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Runtime Workflow — Symptom Analysis</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09</a:t>
            </a:r>
          </a:p>
        </p:txBody>
      </p:sp>
      <p:sp>
        <p:nvSpPr>
          <p:cNvPr id="8" name="Rounded Rectangle 7"/>
          <p:cNvSpPr/>
          <p:nvPr/>
        </p:nvSpPr>
        <p:spPr>
          <a:xfrm>
            <a:off x="566928" y="1783080"/>
            <a:ext cx="1389888" cy="16916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ounded Rectangle 8"/>
          <p:cNvSpPr/>
          <p:nvPr/>
        </p:nvSpPr>
        <p:spPr>
          <a:xfrm>
            <a:off x="566928" y="1783080"/>
            <a:ext cx="1389888" cy="402336"/>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50" b="1">
                <a:solidFill>
                  <a:srgbClr val="075A8C"/>
                </a:solidFill>
                <a:latin typeface="Segoe UI"/>
              </a:rPr>
              <a:t>User</a:t>
            </a:r>
          </a:p>
        </p:txBody>
      </p:sp>
      <p:sp>
        <p:nvSpPr>
          <p:cNvPr id="10" name="Rounded Rectangle 9"/>
          <p:cNvSpPr/>
          <p:nvPr/>
        </p:nvSpPr>
        <p:spPr>
          <a:xfrm>
            <a:off x="1097280" y="1389888"/>
            <a:ext cx="329184" cy="329184"/>
          </a:xfrm>
          <a:prstGeom prst="roundRect">
            <a:avLst>
              <a:gd name="adj" fmla="val 50000"/>
            </a:avLst>
          </a:prstGeom>
          <a:solidFill>
            <a:srgbClr val="075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1</a:t>
            </a:r>
          </a:p>
        </p:txBody>
      </p:sp>
      <p:sp>
        <p:nvSpPr>
          <p:cNvPr id="11" name="TextBox 10"/>
          <p:cNvSpPr txBox="1"/>
          <p:nvPr/>
        </p:nvSpPr>
        <p:spPr>
          <a:xfrm>
            <a:off x="676656" y="2322576"/>
            <a:ext cx="1170432" cy="1097280"/>
          </a:xfrm>
          <a:prstGeom prst="rect">
            <a:avLst/>
          </a:prstGeom>
          <a:noFill/>
        </p:spPr>
        <p:txBody>
          <a:bodyPr wrap="square" anchor="t" lIns="0" rIns="0" tIns="0" bIns="0">
            <a:spAutoFit/>
          </a:bodyPr>
          <a:lstStyle/>
          <a:p>
            <a:pPr algn="ctr">
              <a:lnSpc>
                <a:spcPct val="125000"/>
              </a:lnSpc>
              <a:spcBef>
                <a:spcPts val="0"/>
              </a:spcBef>
              <a:spcAft>
                <a:spcPts val="0"/>
              </a:spcAft>
            </a:pPr>
            <a:r>
              <a:rPr sz="950" b="0" i="0">
                <a:solidFill>
                  <a:srgbClr val="475569"/>
                </a:solidFill>
                <a:latin typeface="Segoe UI"/>
              </a:rPr>
              <a:t>Logs in, enters
symptoms or
uploads a report</a:t>
            </a:r>
          </a:p>
        </p:txBody>
      </p:sp>
      <p:sp>
        <p:nvSpPr>
          <p:cNvPr id="12" name="Right Arrow 11"/>
          <p:cNvSpPr/>
          <p:nvPr/>
        </p:nvSpPr>
        <p:spPr>
          <a:xfrm>
            <a:off x="1984248" y="2551176"/>
            <a:ext cx="146304" cy="164592"/>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2157984" y="1783080"/>
            <a:ext cx="1389888" cy="16916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Rounded Rectangle 13"/>
          <p:cNvSpPr/>
          <p:nvPr/>
        </p:nvSpPr>
        <p:spPr>
          <a:xfrm>
            <a:off x="2157984" y="1783080"/>
            <a:ext cx="1389888" cy="402336"/>
          </a:xfrm>
          <a:prstGeom prst="roundRect">
            <a:avLst>
              <a:gd name="adj" fmla="val 14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50" b="1">
                <a:solidFill>
                  <a:srgbClr val="0F766E"/>
                </a:solidFill>
                <a:latin typeface="Segoe UI"/>
              </a:rPr>
              <a:t>React Client</a:t>
            </a:r>
          </a:p>
        </p:txBody>
      </p:sp>
      <p:sp>
        <p:nvSpPr>
          <p:cNvPr id="15" name="Rounded Rectangle 14"/>
          <p:cNvSpPr/>
          <p:nvPr/>
        </p:nvSpPr>
        <p:spPr>
          <a:xfrm>
            <a:off x="2688336" y="1389888"/>
            <a:ext cx="329184"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2</a:t>
            </a:r>
          </a:p>
        </p:txBody>
      </p:sp>
      <p:sp>
        <p:nvSpPr>
          <p:cNvPr id="16" name="TextBox 15"/>
          <p:cNvSpPr txBox="1"/>
          <p:nvPr/>
        </p:nvSpPr>
        <p:spPr>
          <a:xfrm>
            <a:off x="2267712" y="2322576"/>
            <a:ext cx="1170432" cy="1097280"/>
          </a:xfrm>
          <a:prstGeom prst="rect">
            <a:avLst/>
          </a:prstGeom>
          <a:noFill/>
        </p:spPr>
        <p:txBody>
          <a:bodyPr wrap="square" anchor="t" lIns="0" rIns="0" tIns="0" bIns="0">
            <a:spAutoFit/>
          </a:bodyPr>
          <a:lstStyle/>
          <a:p>
            <a:pPr algn="ctr">
              <a:lnSpc>
                <a:spcPct val="125000"/>
              </a:lnSpc>
              <a:spcBef>
                <a:spcPts val="0"/>
              </a:spcBef>
              <a:spcAft>
                <a:spcPts val="0"/>
              </a:spcAft>
            </a:pPr>
            <a:r>
              <a:rPr sz="950" b="0" i="0">
                <a:solidFill>
                  <a:srgbClr val="475569"/>
                </a:solidFill>
                <a:latin typeface="Segoe UI"/>
              </a:rPr>
              <a:t>Client-side validation,
attaches JWT,
POST /api/v1/...</a:t>
            </a:r>
          </a:p>
        </p:txBody>
      </p:sp>
      <p:sp>
        <p:nvSpPr>
          <p:cNvPr id="17" name="Right Arrow 16"/>
          <p:cNvSpPr/>
          <p:nvPr/>
        </p:nvSpPr>
        <p:spPr>
          <a:xfrm>
            <a:off x="3575303" y="2551176"/>
            <a:ext cx="146304" cy="164592"/>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3749039" y="1783080"/>
            <a:ext cx="1389888" cy="16916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Rounded Rectangle 18"/>
          <p:cNvSpPr/>
          <p:nvPr/>
        </p:nvSpPr>
        <p:spPr>
          <a:xfrm>
            <a:off x="3749039" y="1783080"/>
            <a:ext cx="1389888" cy="402336"/>
          </a:xfrm>
          <a:prstGeom prst="roundRect">
            <a:avLst>
              <a:gd name="adj" fmla="val 14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50" b="1">
                <a:solidFill>
                  <a:srgbClr val="0F766E"/>
                </a:solidFill>
                <a:latin typeface="Segoe UI"/>
              </a:rPr>
              <a:t>Express API</a:t>
            </a:r>
          </a:p>
        </p:txBody>
      </p:sp>
      <p:sp>
        <p:nvSpPr>
          <p:cNvPr id="20" name="Rounded Rectangle 19"/>
          <p:cNvSpPr/>
          <p:nvPr/>
        </p:nvSpPr>
        <p:spPr>
          <a:xfrm>
            <a:off x="4279392" y="1389888"/>
            <a:ext cx="329184"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3</a:t>
            </a:r>
          </a:p>
        </p:txBody>
      </p:sp>
      <p:sp>
        <p:nvSpPr>
          <p:cNvPr id="21" name="TextBox 20"/>
          <p:cNvSpPr txBox="1"/>
          <p:nvPr/>
        </p:nvSpPr>
        <p:spPr>
          <a:xfrm>
            <a:off x="3858768" y="2322576"/>
            <a:ext cx="1170432" cy="1097280"/>
          </a:xfrm>
          <a:prstGeom prst="rect">
            <a:avLst/>
          </a:prstGeom>
          <a:noFill/>
        </p:spPr>
        <p:txBody>
          <a:bodyPr wrap="square" anchor="t" lIns="0" rIns="0" tIns="0" bIns="0">
            <a:spAutoFit/>
          </a:bodyPr>
          <a:lstStyle/>
          <a:p>
            <a:pPr algn="ctr">
              <a:lnSpc>
                <a:spcPct val="125000"/>
              </a:lnSpc>
              <a:spcBef>
                <a:spcPts val="0"/>
              </a:spcBef>
              <a:spcAft>
                <a:spcPts val="0"/>
              </a:spcAft>
            </a:pPr>
            <a:r>
              <a:rPr sz="950" b="0" i="0">
                <a:solidFill>
                  <a:srgbClr val="475569"/>
                </a:solidFill>
                <a:latin typeface="Segoe UI"/>
              </a:rPr>
              <a:t>Verify token,
rate limit,
schema validation</a:t>
            </a:r>
          </a:p>
        </p:txBody>
      </p:sp>
      <p:sp>
        <p:nvSpPr>
          <p:cNvPr id="22" name="Right Arrow 21"/>
          <p:cNvSpPr/>
          <p:nvPr/>
        </p:nvSpPr>
        <p:spPr>
          <a:xfrm>
            <a:off x="5166359" y="2551176"/>
            <a:ext cx="146304" cy="164592"/>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5340096" y="1783080"/>
            <a:ext cx="1389888" cy="16916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Rounded Rectangle 23"/>
          <p:cNvSpPr/>
          <p:nvPr/>
        </p:nvSpPr>
        <p:spPr>
          <a:xfrm>
            <a:off x="5340096" y="1783080"/>
            <a:ext cx="1389888" cy="402336"/>
          </a:xfrm>
          <a:prstGeom prst="roundRect">
            <a:avLst>
              <a:gd name="adj" fmla="val 1400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50" b="1">
                <a:solidFill>
                  <a:srgbClr val="BE123C"/>
                </a:solidFill>
                <a:latin typeface="Segoe UI"/>
              </a:rPr>
              <a:t>Triage Engine</a:t>
            </a:r>
          </a:p>
        </p:txBody>
      </p:sp>
      <p:sp>
        <p:nvSpPr>
          <p:cNvPr id="25" name="Rounded Rectangle 24"/>
          <p:cNvSpPr/>
          <p:nvPr/>
        </p:nvSpPr>
        <p:spPr>
          <a:xfrm>
            <a:off x="5870448" y="1389888"/>
            <a:ext cx="329184" cy="329184"/>
          </a:xfrm>
          <a:prstGeom prst="roundRect">
            <a:avLst>
              <a:gd name="adj" fmla="val 50000"/>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4</a:t>
            </a:r>
          </a:p>
        </p:txBody>
      </p:sp>
      <p:sp>
        <p:nvSpPr>
          <p:cNvPr id="26" name="TextBox 25"/>
          <p:cNvSpPr txBox="1"/>
          <p:nvPr/>
        </p:nvSpPr>
        <p:spPr>
          <a:xfrm>
            <a:off x="5449824" y="2322576"/>
            <a:ext cx="1170432" cy="1097280"/>
          </a:xfrm>
          <a:prstGeom prst="rect">
            <a:avLst/>
          </a:prstGeom>
          <a:noFill/>
        </p:spPr>
        <p:txBody>
          <a:bodyPr wrap="square" anchor="t" lIns="0" rIns="0" tIns="0" bIns="0">
            <a:spAutoFit/>
          </a:bodyPr>
          <a:lstStyle/>
          <a:p>
            <a:pPr algn="ctr">
              <a:lnSpc>
                <a:spcPct val="125000"/>
              </a:lnSpc>
              <a:spcBef>
                <a:spcPts val="0"/>
              </a:spcBef>
              <a:spcAft>
                <a:spcPts val="0"/>
              </a:spcAft>
            </a:pPr>
            <a:r>
              <a:rPr sz="950" b="0" i="0">
                <a:solidFill>
                  <a:srgbClr val="475569"/>
                </a:solidFill>
                <a:latin typeface="Segoe UI"/>
              </a:rPr>
              <a:t>Deterministic
red-flag rules
→ may escalate now</a:t>
            </a:r>
          </a:p>
        </p:txBody>
      </p:sp>
      <p:sp>
        <p:nvSpPr>
          <p:cNvPr id="27" name="Right Arrow 26"/>
          <p:cNvSpPr/>
          <p:nvPr/>
        </p:nvSpPr>
        <p:spPr>
          <a:xfrm>
            <a:off x="6757416" y="2551176"/>
            <a:ext cx="146304" cy="164592"/>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931152" y="1783080"/>
            <a:ext cx="1389888" cy="16916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Rounded Rectangle 28"/>
          <p:cNvSpPr/>
          <p:nvPr/>
        </p:nvSpPr>
        <p:spPr>
          <a:xfrm>
            <a:off x="6931152" y="1783080"/>
            <a:ext cx="1389888" cy="402336"/>
          </a:xfrm>
          <a:prstGeom prst="roundRect">
            <a:avLst>
              <a:gd name="adj" fmla="val 14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50" b="1">
                <a:solidFill>
                  <a:srgbClr val="4338CA"/>
                </a:solidFill>
                <a:latin typeface="Segoe UI"/>
              </a:rPr>
              <a:t>AI Service</a:t>
            </a:r>
          </a:p>
        </p:txBody>
      </p:sp>
      <p:sp>
        <p:nvSpPr>
          <p:cNvPr id="30" name="Rounded Rectangle 29"/>
          <p:cNvSpPr/>
          <p:nvPr/>
        </p:nvSpPr>
        <p:spPr>
          <a:xfrm>
            <a:off x="7461504" y="1389888"/>
            <a:ext cx="329184" cy="329184"/>
          </a:xfrm>
          <a:prstGeom prst="roundRect">
            <a:avLst>
              <a:gd name="adj" fmla="val 50000"/>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5</a:t>
            </a:r>
          </a:p>
        </p:txBody>
      </p:sp>
      <p:sp>
        <p:nvSpPr>
          <p:cNvPr id="31" name="TextBox 30"/>
          <p:cNvSpPr txBox="1"/>
          <p:nvPr/>
        </p:nvSpPr>
        <p:spPr>
          <a:xfrm>
            <a:off x="7040880" y="2322576"/>
            <a:ext cx="1170432" cy="1097280"/>
          </a:xfrm>
          <a:prstGeom prst="rect">
            <a:avLst/>
          </a:prstGeom>
          <a:noFill/>
        </p:spPr>
        <p:txBody>
          <a:bodyPr wrap="square" anchor="t" lIns="0" rIns="0" tIns="0" bIns="0">
            <a:spAutoFit/>
          </a:bodyPr>
          <a:lstStyle/>
          <a:p>
            <a:pPr algn="ctr">
              <a:lnSpc>
                <a:spcPct val="125000"/>
              </a:lnSpc>
              <a:spcBef>
                <a:spcPts val="0"/>
              </a:spcBef>
              <a:spcAft>
                <a:spcPts val="0"/>
              </a:spcAft>
            </a:pPr>
            <a:r>
              <a:rPr sz="950" b="0" i="0">
                <a:solidFill>
                  <a:srgbClr val="475569"/>
                </a:solidFill>
                <a:latin typeface="Segoe UI"/>
              </a:rPr>
              <a:t>Redact PII, build
prompt, call provider,
validate response</a:t>
            </a:r>
          </a:p>
        </p:txBody>
      </p:sp>
      <p:sp>
        <p:nvSpPr>
          <p:cNvPr id="32" name="Right Arrow 31"/>
          <p:cNvSpPr/>
          <p:nvPr/>
        </p:nvSpPr>
        <p:spPr>
          <a:xfrm>
            <a:off x="8348471" y="2551176"/>
            <a:ext cx="146304" cy="164592"/>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522207" y="1783080"/>
            <a:ext cx="1389888" cy="16916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Rounded Rectangle 33"/>
          <p:cNvSpPr/>
          <p:nvPr/>
        </p:nvSpPr>
        <p:spPr>
          <a:xfrm>
            <a:off x="8522207" y="1783080"/>
            <a:ext cx="1389888" cy="402336"/>
          </a:xfrm>
          <a:prstGeom prst="roundRect">
            <a:avLst>
              <a:gd name="adj" fmla="val 14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50" b="1">
                <a:solidFill>
                  <a:srgbClr val="92400E"/>
                </a:solidFill>
                <a:latin typeface="Segoe UI"/>
              </a:rPr>
              <a:t>Database</a:t>
            </a:r>
          </a:p>
        </p:txBody>
      </p:sp>
      <p:sp>
        <p:nvSpPr>
          <p:cNvPr id="35" name="Rounded Rectangle 34"/>
          <p:cNvSpPr/>
          <p:nvPr/>
        </p:nvSpPr>
        <p:spPr>
          <a:xfrm>
            <a:off x="9052559" y="1389888"/>
            <a:ext cx="329184" cy="329184"/>
          </a:xfrm>
          <a:prstGeom prst="roundRect">
            <a:avLst>
              <a:gd name="adj" fmla="val 50000"/>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6</a:t>
            </a:r>
          </a:p>
        </p:txBody>
      </p:sp>
      <p:sp>
        <p:nvSpPr>
          <p:cNvPr id="36" name="TextBox 35"/>
          <p:cNvSpPr txBox="1"/>
          <p:nvPr/>
        </p:nvSpPr>
        <p:spPr>
          <a:xfrm>
            <a:off x="8631935" y="2322576"/>
            <a:ext cx="1170432" cy="1097280"/>
          </a:xfrm>
          <a:prstGeom prst="rect">
            <a:avLst/>
          </a:prstGeom>
          <a:noFill/>
        </p:spPr>
        <p:txBody>
          <a:bodyPr wrap="square" anchor="t" lIns="0" rIns="0" tIns="0" bIns="0">
            <a:spAutoFit/>
          </a:bodyPr>
          <a:lstStyle/>
          <a:p>
            <a:pPr algn="ctr">
              <a:lnSpc>
                <a:spcPct val="125000"/>
              </a:lnSpc>
              <a:spcBef>
                <a:spcPts val="0"/>
              </a:spcBef>
              <a:spcAft>
                <a:spcPts val="0"/>
              </a:spcAft>
            </a:pPr>
            <a:r>
              <a:rPr sz="950" b="0" i="0">
                <a:solidFill>
                  <a:srgbClr val="475569"/>
                </a:solidFill>
                <a:latin typeface="Segoe UI"/>
              </a:rPr>
              <a:t>Persist session,
update history,
write audit log</a:t>
            </a:r>
          </a:p>
        </p:txBody>
      </p:sp>
      <p:sp>
        <p:nvSpPr>
          <p:cNvPr id="37" name="Right Arrow 36"/>
          <p:cNvSpPr/>
          <p:nvPr/>
        </p:nvSpPr>
        <p:spPr>
          <a:xfrm>
            <a:off x="9939527" y="2551176"/>
            <a:ext cx="146304" cy="164592"/>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10113263" y="1783080"/>
            <a:ext cx="1389888" cy="16916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Rounded Rectangle 38"/>
          <p:cNvSpPr/>
          <p:nvPr/>
        </p:nvSpPr>
        <p:spPr>
          <a:xfrm>
            <a:off x="10113263" y="1783080"/>
            <a:ext cx="1389888" cy="402336"/>
          </a:xfrm>
          <a:prstGeom prst="roundRect">
            <a:avLst>
              <a:gd name="adj" fmla="val 14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50" b="1">
                <a:solidFill>
                  <a:srgbClr val="15803D"/>
                </a:solidFill>
                <a:latin typeface="Segoe UI"/>
              </a:rPr>
              <a:t>Response</a:t>
            </a:r>
          </a:p>
        </p:txBody>
      </p:sp>
      <p:sp>
        <p:nvSpPr>
          <p:cNvPr id="40" name="Rounded Rectangle 39"/>
          <p:cNvSpPr/>
          <p:nvPr/>
        </p:nvSpPr>
        <p:spPr>
          <a:xfrm>
            <a:off x="10643615" y="1389888"/>
            <a:ext cx="329184" cy="329184"/>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7</a:t>
            </a:r>
          </a:p>
        </p:txBody>
      </p:sp>
      <p:sp>
        <p:nvSpPr>
          <p:cNvPr id="41" name="TextBox 40"/>
          <p:cNvSpPr txBox="1"/>
          <p:nvPr/>
        </p:nvSpPr>
        <p:spPr>
          <a:xfrm>
            <a:off x="10222991" y="2322576"/>
            <a:ext cx="1170432" cy="1097280"/>
          </a:xfrm>
          <a:prstGeom prst="rect">
            <a:avLst/>
          </a:prstGeom>
          <a:noFill/>
        </p:spPr>
        <p:txBody>
          <a:bodyPr wrap="square" anchor="t" lIns="0" rIns="0" tIns="0" bIns="0">
            <a:spAutoFit/>
          </a:bodyPr>
          <a:lstStyle/>
          <a:p>
            <a:pPr algn="ctr">
              <a:lnSpc>
                <a:spcPct val="125000"/>
              </a:lnSpc>
              <a:spcBef>
                <a:spcPts val="0"/>
              </a:spcBef>
              <a:spcAft>
                <a:spcPts val="0"/>
              </a:spcAft>
            </a:pPr>
            <a:r>
              <a:rPr sz="950" b="0" i="0">
                <a:solidFill>
                  <a:srgbClr val="475569"/>
                </a:solidFill>
                <a:latin typeface="Segoe UI"/>
              </a:rPr>
              <a:t>Conditions, urgency,
confidence, advice,
disclaimer</a:t>
            </a:r>
          </a:p>
        </p:txBody>
      </p:sp>
      <p:sp>
        <p:nvSpPr>
          <p:cNvPr id="42" name="Rounded Rectangle 41"/>
          <p:cNvSpPr/>
          <p:nvPr/>
        </p:nvSpPr>
        <p:spPr>
          <a:xfrm>
            <a:off x="566928" y="3840480"/>
            <a:ext cx="5349240" cy="1051560"/>
          </a:xfrm>
          <a:prstGeom prst="roundRect">
            <a:avLst>
              <a:gd name="adj" fmla="val 10000"/>
            </a:avLst>
          </a:prstGeom>
          <a:solidFill>
            <a:srgbClr val="FFF1F2"/>
          </a:solidFill>
          <a:ln w="12700">
            <a:solidFill>
              <a:srgbClr val="FECDD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TextBox 42"/>
          <p:cNvSpPr txBox="1"/>
          <p:nvPr/>
        </p:nvSpPr>
        <p:spPr>
          <a:xfrm>
            <a:off x="822960" y="4023360"/>
            <a:ext cx="4846320" cy="822960"/>
          </a:xfrm>
          <a:prstGeom prst="rect">
            <a:avLst/>
          </a:prstGeom>
          <a:noFill/>
        </p:spPr>
        <p:txBody>
          <a:bodyPr wrap="square" anchor="t" lIns="0" rIns="0" tIns="0" bIns="0">
            <a:spAutoFit/>
          </a:bodyPr>
          <a:lstStyle/>
          <a:p>
            <a:pPr algn="l">
              <a:lnSpc>
                <a:spcPct val="125000"/>
              </a:lnSpc>
              <a:spcBef>
                <a:spcPts val="0"/>
              </a:spcBef>
              <a:spcAft>
                <a:spcPts val="500"/>
              </a:spcAft>
            </a:pPr>
            <a:r>
              <a:rPr sz="1000" b="1" i="0">
                <a:solidFill>
                  <a:srgbClr val="BE123C"/>
                </a:solidFill>
                <a:latin typeface="Segoe UI"/>
              </a:rPr>
              <a:t>SHORT-CIRCUIT PATH</a:t>
            </a:r>
          </a:p>
          <a:p>
            <a:pPr algn="l">
              <a:lnSpc>
                <a:spcPct val="128000"/>
              </a:lnSpc>
              <a:spcBef>
                <a:spcPts val="0"/>
              </a:spcBef>
              <a:spcAft>
                <a:spcPts val="0"/>
              </a:spcAft>
            </a:pPr>
            <a:r>
              <a:rPr sz="1150" b="0" i="0">
                <a:solidFill>
                  <a:srgbClr val="475569"/>
                </a:solidFill>
                <a:latin typeface="Segoe UI"/>
              </a:rPr>
              <a:t>If step 4 matches a red flag (e.g. chest pain + breathlessness), the AI is never called — the user is told to seek emergency care immediately.</a:t>
            </a:r>
          </a:p>
        </p:txBody>
      </p:sp>
      <p:sp>
        <p:nvSpPr>
          <p:cNvPr id="44" name="Rounded Rectangle 43"/>
          <p:cNvSpPr/>
          <p:nvPr/>
        </p:nvSpPr>
        <p:spPr>
          <a:xfrm>
            <a:off x="6281928" y="3840480"/>
            <a:ext cx="5349240" cy="1051560"/>
          </a:xfrm>
          <a:prstGeom prst="roundRect">
            <a:avLst>
              <a:gd name="adj" fmla="val 10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TextBox 44"/>
          <p:cNvSpPr txBox="1"/>
          <p:nvPr/>
        </p:nvSpPr>
        <p:spPr>
          <a:xfrm>
            <a:off x="6537960" y="4023360"/>
            <a:ext cx="4846320" cy="822960"/>
          </a:xfrm>
          <a:prstGeom prst="rect">
            <a:avLst/>
          </a:prstGeom>
          <a:noFill/>
        </p:spPr>
        <p:txBody>
          <a:bodyPr wrap="square" anchor="t" lIns="0" rIns="0" tIns="0" bIns="0">
            <a:spAutoFit/>
          </a:bodyPr>
          <a:lstStyle/>
          <a:p>
            <a:pPr algn="l">
              <a:lnSpc>
                <a:spcPct val="125000"/>
              </a:lnSpc>
              <a:spcBef>
                <a:spcPts val="0"/>
              </a:spcBef>
              <a:spcAft>
                <a:spcPts val="500"/>
              </a:spcAft>
            </a:pPr>
            <a:r>
              <a:rPr sz="1000" b="1" i="0">
                <a:solidFill>
                  <a:srgbClr val="0F766E"/>
                </a:solidFill>
                <a:latin typeface="Segoe UI"/>
              </a:rPr>
              <a:t>FAILURE PATH</a:t>
            </a:r>
          </a:p>
          <a:p>
            <a:pPr algn="l">
              <a:lnSpc>
                <a:spcPct val="128000"/>
              </a:lnSpc>
              <a:spcBef>
                <a:spcPts val="0"/>
              </a:spcBef>
              <a:spcAft>
                <a:spcPts val="0"/>
              </a:spcAft>
            </a:pPr>
            <a:r>
              <a:rPr sz="1150" b="0" i="0">
                <a:solidFill>
                  <a:srgbClr val="475569"/>
                </a:solidFill>
                <a:latin typeface="Segoe UI"/>
              </a:rPr>
              <a:t>If the AI provider times out, the circuit breaker opens: fall back to the second provider, then to rules-only guidance. The system degrades, it does not fail.</a:t>
            </a:r>
          </a:p>
        </p:txBody>
      </p:sp>
      <p:sp>
        <p:nvSpPr>
          <p:cNvPr id="46" name="Rounded Rectangle 45"/>
          <p:cNvSpPr/>
          <p:nvPr/>
        </p:nvSpPr>
        <p:spPr>
          <a:xfrm>
            <a:off x="566928" y="5166360"/>
            <a:ext cx="11064240" cy="54864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0">
                <a:solidFill>
                  <a:srgbClr val="475569"/>
                </a:solidFill>
                <a:latin typeface="Segoe UI"/>
              </a:rPr>
              <a:t>Long-running work — OCR of uploaded reports, reminder dispatch — is queued and processed asynchronously, never inside the request/response cycle.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THE SAFETY PIPELINE</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Inside the AI Service Layer</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10</a:t>
            </a:r>
          </a:p>
        </p:txBody>
      </p:sp>
      <p:sp>
        <p:nvSpPr>
          <p:cNvPr id="8" name="Rounded Rectangle 7"/>
          <p:cNvSpPr/>
          <p:nvPr/>
        </p:nvSpPr>
        <p:spPr>
          <a:xfrm>
            <a:off x="566928" y="1453896"/>
            <a:ext cx="384048"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1</a:t>
            </a:r>
          </a:p>
        </p:txBody>
      </p:sp>
      <p:sp>
        <p:nvSpPr>
          <p:cNvPr id="9" name="Rounded Rectangle 8"/>
          <p:cNvSpPr/>
          <p:nvPr/>
        </p:nvSpPr>
        <p:spPr>
          <a:xfrm>
            <a:off x="1115568" y="1371600"/>
            <a:ext cx="2331720" cy="548640"/>
          </a:xfrm>
          <a:prstGeom prst="roundRect">
            <a:avLst>
              <a:gd name="adj" fmla="val 12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36576" bIns="36576"/>
          <a:lstStyle/>
          <a:p>
            <a:pPr algn="l">
              <a:lnSpc>
                <a:spcPct val="110000"/>
              </a:lnSpc>
            </a:pPr>
            <a:r>
              <a:rPr sz="1200" b="1">
                <a:solidFill>
                  <a:srgbClr val="0F766E"/>
                </a:solidFill>
                <a:latin typeface="Segoe UI"/>
              </a:rPr>
              <a:t>Normalise</a:t>
            </a:r>
          </a:p>
        </p:txBody>
      </p:sp>
      <p:sp>
        <p:nvSpPr>
          <p:cNvPr id="10" name="TextBox 9"/>
          <p:cNvSpPr txBox="1"/>
          <p:nvPr/>
        </p:nvSpPr>
        <p:spPr>
          <a:xfrm>
            <a:off x="3657600" y="1426464"/>
            <a:ext cx="4114800" cy="502920"/>
          </a:xfrm>
          <a:prstGeom prst="rect">
            <a:avLst/>
          </a:prstGeom>
          <a:noFill/>
        </p:spPr>
        <p:txBody>
          <a:bodyPr wrap="square" anchor="t" lIns="0" rIns="0" tIns="0" bIns="0">
            <a:spAutoFit/>
          </a:bodyPr>
          <a:lstStyle/>
          <a:p>
            <a:pPr algn="l">
              <a:lnSpc>
                <a:spcPct val="122000"/>
              </a:lnSpc>
              <a:spcBef>
                <a:spcPts val="0"/>
              </a:spcBef>
              <a:spcAft>
                <a:spcPts val="0"/>
              </a:spcAft>
            </a:pPr>
            <a:r>
              <a:rPr sz="1050" b="0" i="0">
                <a:solidFill>
                  <a:srgbClr val="475569"/>
                </a:solidFill>
                <a:latin typeface="Segoe UI"/>
              </a:rPr>
              <a:t>Structured intake: symptom, duration,
severity, onset — not free text alone</a:t>
            </a:r>
          </a:p>
        </p:txBody>
      </p:sp>
      <p:sp>
        <p:nvSpPr>
          <p:cNvPr id="11" name="Down Arrow 10"/>
          <p:cNvSpPr/>
          <p:nvPr/>
        </p:nvSpPr>
        <p:spPr>
          <a:xfrm>
            <a:off x="685800" y="1883664"/>
            <a:ext cx="146304" cy="146304"/>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2144268"/>
            <a:ext cx="384048"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2</a:t>
            </a:r>
          </a:p>
        </p:txBody>
      </p:sp>
      <p:sp>
        <p:nvSpPr>
          <p:cNvPr id="13" name="Rounded Rectangle 12"/>
          <p:cNvSpPr/>
          <p:nvPr/>
        </p:nvSpPr>
        <p:spPr>
          <a:xfrm>
            <a:off x="1115568" y="2061972"/>
            <a:ext cx="2331720" cy="548640"/>
          </a:xfrm>
          <a:prstGeom prst="roundRect">
            <a:avLst>
              <a:gd name="adj" fmla="val 12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36576" bIns="36576"/>
          <a:lstStyle/>
          <a:p>
            <a:pPr algn="l">
              <a:lnSpc>
                <a:spcPct val="110000"/>
              </a:lnSpc>
            </a:pPr>
            <a:r>
              <a:rPr sz="1200" b="1">
                <a:solidFill>
                  <a:srgbClr val="0F766E"/>
                </a:solidFill>
                <a:latin typeface="Segoe UI"/>
              </a:rPr>
              <a:t>Redact PII</a:t>
            </a:r>
          </a:p>
        </p:txBody>
      </p:sp>
      <p:sp>
        <p:nvSpPr>
          <p:cNvPr id="14" name="TextBox 13"/>
          <p:cNvSpPr txBox="1"/>
          <p:nvPr/>
        </p:nvSpPr>
        <p:spPr>
          <a:xfrm>
            <a:off x="3657600" y="2116836"/>
            <a:ext cx="4114800" cy="502920"/>
          </a:xfrm>
          <a:prstGeom prst="rect">
            <a:avLst/>
          </a:prstGeom>
          <a:noFill/>
        </p:spPr>
        <p:txBody>
          <a:bodyPr wrap="square" anchor="t" lIns="0" rIns="0" tIns="0" bIns="0">
            <a:spAutoFit/>
          </a:bodyPr>
          <a:lstStyle/>
          <a:p>
            <a:pPr algn="l">
              <a:lnSpc>
                <a:spcPct val="122000"/>
              </a:lnSpc>
              <a:spcBef>
                <a:spcPts val="0"/>
              </a:spcBef>
              <a:spcAft>
                <a:spcPts val="0"/>
              </a:spcAft>
            </a:pPr>
            <a:r>
              <a:rPr sz="1050" b="0" i="0">
                <a:solidFill>
                  <a:srgbClr val="475569"/>
                </a:solidFill>
                <a:latin typeface="Segoe UI"/>
              </a:rPr>
              <a:t>Name, phone, e-mail, ID stripped
before anything leaves our boundary</a:t>
            </a:r>
          </a:p>
        </p:txBody>
      </p:sp>
      <p:sp>
        <p:nvSpPr>
          <p:cNvPr id="15" name="Down Arrow 14"/>
          <p:cNvSpPr/>
          <p:nvPr/>
        </p:nvSpPr>
        <p:spPr>
          <a:xfrm>
            <a:off x="685800" y="2574036"/>
            <a:ext cx="146304" cy="146304"/>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566928" y="2834639"/>
            <a:ext cx="384048"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3</a:t>
            </a:r>
          </a:p>
        </p:txBody>
      </p:sp>
      <p:sp>
        <p:nvSpPr>
          <p:cNvPr id="17" name="Rounded Rectangle 16"/>
          <p:cNvSpPr/>
          <p:nvPr/>
        </p:nvSpPr>
        <p:spPr>
          <a:xfrm>
            <a:off x="1115568" y="2752344"/>
            <a:ext cx="2331720" cy="548640"/>
          </a:xfrm>
          <a:prstGeom prst="roundRect">
            <a:avLst>
              <a:gd name="adj" fmla="val 12000"/>
            </a:avLst>
          </a:prstGeom>
          <a:solidFill>
            <a:srgbClr val="FFE4E6"/>
          </a:solidFill>
          <a:ln w="12700">
            <a:solidFill>
              <a:srgbClr val="FECDD3"/>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36576" bIns="36576"/>
          <a:lstStyle/>
          <a:p>
            <a:pPr algn="l">
              <a:lnSpc>
                <a:spcPct val="110000"/>
              </a:lnSpc>
            </a:pPr>
            <a:r>
              <a:rPr sz="1200" b="1">
                <a:solidFill>
                  <a:srgbClr val="BE123C"/>
                </a:solidFill>
                <a:latin typeface="Segoe UI"/>
              </a:rPr>
              <a:t>Red-flag rules</a:t>
            </a:r>
          </a:p>
        </p:txBody>
      </p:sp>
      <p:sp>
        <p:nvSpPr>
          <p:cNvPr id="18" name="TextBox 17"/>
          <p:cNvSpPr txBox="1"/>
          <p:nvPr/>
        </p:nvSpPr>
        <p:spPr>
          <a:xfrm>
            <a:off x="3657600" y="2807208"/>
            <a:ext cx="4114800" cy="502920"/>
          </a:xfrm>
          <a:prstGeom prst="rect">
            <a:avLst/>
          </a:prstGeom>
          <a:noFill/>
        </p:spPr>
        <p:txBody>
          <a:bodyPr wrap="square" anchor="t" lIns="0" rIns="0" tIns="0" bIns="0">
            <a:spAutoFit/>
          </a:bodyPr>
          <a:lstStyle/>
          <a:p>
            <a:pPr algn="l">
              <a:lnSpc>
                <a:spcPct val="122000"/>
              </a:lnSpc>
              <a:spcBef>
                <a:spcPts val="0"/>
              </a:spcBef>
              <a:spcAft>
                <a:spcPts val="0"/>
              </a:spcAft>
            </a:pPr>
            <a:r>
              <a:rPr sz="1050" b="0" i="0">
                <a:solidFill>
                  <a:srgbClr val="475569"/>
                </a:solidFill>
                <a:latin typeface="Segoe UI"/>
              </a:rPr>
              <a:t>Deterministic table lookup.
Match → escalate, skip AI entirely</a:t>
            </a:r>
          </a:p>
        </p:txBody>
      </p:sp>
      <p:sp>
        <p:nvSpPr>
          <p:cNvPr id="19" name="Down Arrow 18"/>
          <p:cNvSpPr/>
          <p:nvPr/>
        </p:nvSpPr>
        <p:spPr>
          <a:xfrm>
            <a:off x="685800" y="3264408"/>
            <a:ext cx="146304" cy="146304"/>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66928" y="3525012"/>
            <a:ext cx="384048"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4</a:t>
            </a:r>
          </a:p>
        </p:txBody>
      </p:sp>
      <p:sp>
        <p:nvSpPr>
          <p:cNvPr id="21" name="Rounded Rectangle 20"/>
          <p:cNvSpPr/>
          <p:nvPr/>
        </p:nvSpPr>
        <p:spPr>
          <a:xfrm>
            <a:off x="1115568" y="3442716"/>
            <a:ext cx="2331720" cy="548640"/>
          </a:xfrm>
          <a:prstGeom prst="roundRect">
            <a:avLst>
              <a:gd name="adj" fmla="val 12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36576" bIns="36576"/>
          <a:lstStyle/>
          <a:p>
            <a:pPr algn="l">
              <a:lnSpc>
                <a:spcPct val="110000"/>
              </a:lnSpc>
            </a:pPr>
            <a:r>
              <a:rPr sz="1200" b="1">
                <a:solidFill>
                  <a:srgbClr val="0F766E"/>
                </a:solidFill>
                <a:latin typeface="Segoe UI"/>
              </a:rPr>
              <a:t>Assemble context</a:t>
            </a:r>
          </a:p>
        </p:txBody>
      </p:sp>
      <p:sp>
        <p:nvSpPr>
          <p:cNvPr id="22" name="TextBox 21"/>
          <p:cNvSpPr txBox="1"/>
          <p:nvPr/>
        </p:nvSpPr>
        <p:spPr>
          <a:xfrm>
            <a:off x="3657600" y="3497580"/>
            <a:ext cx="4114800" cy="502920"/>
          </a:xfrm>
          <a:prstGeom prst="rect">
            <a:avLst/>
          </a:prstGeom>
          <a:noFill/>
        </p:spPr>
        <p:txBody>
          <a:bodyPr wrap="square" anchor="t" lIns="0" rIns="0" tIns="0" bIns="0">
            <a:spAutoFit/>
          </a:bodyPr>
          <a:lstStyle/>
          <a:p>
            <a:pPr algn="l">
              <a:lnSpc>
                <a:spcPct val="122000"/>
              </a:lnSpc>
              <a:spcBef>
                <a:spcPts val="0"/>
              </a:spcBef>
              <a:spcAft>
                <a:spcPts val="0"/>
              </a:spcAft>
            </a:pPr>
            <a:r>
              <a:rPr sz="1050" b="0" i="0">
                <a:solidFill>
                  <a:srgbClr val="475569"/>
                </a:solidFill>
                <a:latin typeface="Segoe UI"/>
              </a:rPr>
              <a:t>Age, sex, allergies, chronic conditions,
recent history + prompt template</a:t>
            </a:r>
          </a:p>
        </p:txBody>
      </p:sp>
      <p:sp>
        <p:nvSpPr>
          <p:cNvPr id="23" name="Down Arrow 22"/>
          <p:cNvSpPr/>
          <p:nvPr/>
        </p:nvSpPr>
        <p:spPr>
          <a:xfrm>
            <a:off x="685800" y="3954780"/>
            <a:ext cx="146304" cy="146304"/>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566928" y="4215383"/>
            <a:ext cx="384048"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5</a:t>
            </a:r>
          </a:p>
        </p:txBody>
      </p:sp>
      <p:sp>
        <p:nvSpPr>
          <p:cNvPr id="25" name="Rounded Rectangle 24"/>
          <p:cNvSpPr/>
          <p:nvPr/>
        </p:nvSpPr>
        <p:spPr>
          <a:xfrm>
            <a:off x="1115568" y="4133087"/>
            <a:ext cx="2331720" cy="548640"/>
          </a:xfrm>
          <a:prstGeom prst="roundRect">
            <a:avLst>
              <a:gd name="adj" fmla="val 12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36576" bIns="36576"/>
          <a:lstStyle/>
          <a:p>
            <a:pPr algn="l">
              <a:lnSpc>
                <a:spcPct val="110000"/>
              </a:lnSpc>
            </a:pPr>
            <a:r>
              <a:rPr sz="1200" b="1">
                <a:solidFill>
                  <a:srgbClr val="0F766E"/>
                </a:solidFill>
                <a:latin typeface="Segoe UI"/>
              </a:rPr>
              <a:t>Provider call</a:t>
            </a:r>
          </a:p>
        </p:txBody>
      </p:sp>
      <p:sp>
        <p:nvSpPr>
          <p:cNvPr id="26" name="TextBox 25"/>
          <p:cNvSpPr txBox="1"/>
          <p:nvPr/>
        </p:nvSpPr>
        <p:spPr>
          <a:xfrm>
            <a:off x="3657600" y="4187951"/>
            <a:ext cx="4114800" cy="502920"/>
          </a:xfrm>
          <a:prstGeom prst="rect">
            <a:avLst/>
          </a:prstGeom>
          <a:noFill/>
        </p:spPr>
        <p:txBody>
          <a:bodyPr wrap="square" anchor="t" lIns="0" rIns="0" tIns="0" bIns="0">
            <a:spAutoFit/>
          </a:bodyPr>
          <a:lstStyle/>
          <a:p>
            <a:pPr algn="l">
              <a:lnSpc>
                <a:spcPct val="122000"/>
              </a:lnSpc>
              <a:spcBef>
                <a:spcPts val="0"/>
              </a:spcBef>
              <a:spcAft>
                <a:spcPts val="0"/>
              </a:spcAft>
            </a:pPr>
            <a:r>
              <a:rPr sz="1050" b="0" i="0">
                <a:solidFill>
                  <a:srgbClr val="475569"/>
                </a:solidFill>
                <a:latin typeface="Segoe UI"/>
              </a:rPr>
              <a:t>Adapter → Gemini / OpenAI.
Timeout, retry, circuit breaker, fallback</a:t>
            </a:r>
          </a:p>
        </p:txBody>
      </p:sp>
      <p:sp>
        <p:nvSpPr>
          <p:cNvPr id="27" name="Down Arrow 26"/>
          <p:cNvSpPr/>
          <p:nvPr/>
        </p:nvSpPr>
        <p:spPr>
          <a:xfrm>
            <a:off x="685800" y="4645152"/>
            <a:ext cx="146304" cy="146304"/>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566928" y="4905756"/>
            <a:ext cx="384048"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6</a:t>
            </a:r>
          </a:p>
        </p:txBody>
      </p:sp>
      <p:sp>
        <p:nvSpPr>
          <p:cNvPr id="29" name="Rounded Rectangle 28"/>
          <p:cNvSpPr/>
          <p:nvPr/>
        </p:nvSpPr>
        <p:spPr>
          <a:xfrm>
            <a:off x="1115568" y="4823460"/>
            <a:ext cx="2331720" cy="548640"/>
          </a:xfrm>
          <a:prstGeom prst="roundRect">
            <a:avLst>
              <a:gd name="adj" fmla="val 12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36576" bIns="36576"/>
          <a:lstStyle/>
          <a:p>
            <a:pPr algn="l">
              <a:lnSpc>
                <a:spcPct val="110000"/>
              </a:lnSpc>
            </a:pPr>
            <a:r>
              <a:rPr sz="1200" b="1">
                <a:solidFill>
                  <a:srgbClr val="0F766E"/>
                </a:solidFill>
                <a:latin typeface="Segoe UI"/>
              </a:rPr>
              <a:t>Validate output</a:t>
            </a:r>
          </a:p>
        </p:txBody>
      </p:sp>
      <p:sp>
        <p:nvSpPr>
          <p:cNvPr id="30" name="TextBox 29"/>
          <p:cNvSpPr txBox="1"/>
          <p:nvPr/>
        </p:nvSpPr>
        <p:spPr>
          <a:xfrm>
            <a:off x="3657600" y="4878324"/>
            <a:ext cx="4114800" cy="502920"/>
          </a:xfrm>
          <a:prstGeom prst="rect">
            <a:avLst/>
          </a:prstGeom>
          <a:noFill/>
        </p:spPr>
        <p:txBody>
          <a:bodyPr wrap="square" anchor="t" lIns="0" rIns="0" tIns="0" bIns="0">
            <a:spAutoFit/>
          </a:bodyPr>
          <a:lstStyle/>
          <a:p>
            <a:pPr algn="l">
              <a:lnSpc>
                <a:spcPct val="122000"/>
              </a:lnSpc>
              <a:spcBef>
                <a:spcPts val="0"/>
              </a:spcBef>
              <a:spcAft>
                <a:spcPts val="0"/>
              </a:spcAft>
            </a:pPr>
            <a:r>
              <a:rPr sz="1050" b="0" i="0">
                <a:solidFill>
                  <a:srgbClr val="475569"/>
                </a:solidFill>
                <a:latin typeface="Segoe UI"/>
              </a:rPr>
              <a:t>Schema check + banned-content check:
no dosages, no prescriptions</a:t>
            </a:r>
          </a:p>
        </p:txBody>
      </p:sp>
      <p:sp>
        <p:nvSpPr>
          <p:cNvPr id="31" name="Down Arrow 30"/>
          <p:cNvSpPr/>
          <p:nvPr/>
        </p:nvSpPr>
        <p:spPr>
          <a:xfrm>
            <a:off x="685800" y="5335524"/>
            <a:ext cx="146304" cy="146304"/>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566928" y="5596128"/>
            <a:ext cx="384048"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FFFFFF"/>
                </a:solidFill>
                <a:latin typeface="Segoe UI"/>
              </a:rPr>
              <a:t>7</a:t>
            </a:r>
          </a:p>
        </p:txBody>
      </p:sp>
      <p:sp>
        <p:nvSpPr>
          <p:cNvPr id="33" name="Rounded Rectangle 32"/>
          <p:cNvSpPr/>
          <p:nvPr/>
        </p:nvSpPr>
        <p:spPr>
          <a:xfrm>
            <a:off x="1115568" y="5513832"/>
            <a:ext cx="2331720" cy="548640"/>
          </a:xfrm>
          <a:prstGeom prst="roundRect">
            <a:avLst>
              <a:gd name="adj" fmla="val 12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36576" bIns="36576"/>
          <a:lstStyle/>
          <a:p>
            <a:pPr algn="l">
              <a:lnSpc>
                <a:spcPct val="110000"/>
              </a:lnSpc>
            </a:pPr>
            <a:r>
              <a:rPr sz="1200" b="1">
                <a:solidFill>
                  <a:srgbClr val="0F766E"/>
                </a:solidFill>
                <a:latin typeface="Segoe UI"/>
              </a:rPr>
              <a:t>Wrap &amp; persist</a:t>
            </a:r>
          </a:p>
        </p:txBody>
      </p:sp>
      <p:sp>
        <p:nvSpPr>
          <p:cNvPr id="34" name="TextBox 33"/>
          <p:cNvSpPr txBox="1"/>
          <p:nvPr/>
        </p:nvSpPr>
        <p:spPr>
          <a:xfrm>
            <a:off x="3657600" y="5568696"/>
            <a:ext cx="4114800" cy="502920"/>
          </a:xfrm>
          <a:prstGeom prst="rect">
            <a:avLst/>
          </a:prstGeom>
          <a:noFill/>
        </p:spPr>
        <p:txBody>
          <a:bodyPr wrap="square" anchor="t" lIns="0" rIns="0" tIns="0" bIns="0">
            <a:spAutoFit/>
          </a:bodyPr>
          <a:lstStyle/>
          <a:p>
            <a:pPr algn="l">
              <a:lnSpc>
                <a:spcPct val="122000"/>
              </a:lnSpc>
              <a:spcBef>
                <a:spcPts val="0"/>
              </a:spcBef>
              <a:spcAft>
                <a:spcPts val="0"/>
              </a:spcAft>
            </a:pPr>
            <a:r>
              <a:rPr sz="1050" b="0" i="0">
                <a:solidFill>
                  <a:srgbClr val="475569"/>
                </a:solidFill>
                <a:latin typeface="Segoe UI"/>
              </a:rPr>
              <a:t>Attach confidence, urgency, disclaimer.
Save to history, write audit log</a:t>
            </a:r>
          </a:p>
        </p:txBody>
      </p:sp>
      <p:sp>
        <p:nvSpPr>
          <p:cNvPr id="35" name="Rounded Rectangle 34"/>
          <p:cNvSpPr/>
          <p:nvPr/>
        </p:nvSpPr>
        <p:spPr>
          <a:xfrm>
            <a:off x="8092440" y="1371600"/>
            <a:ext cx="3538728" cy="452628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TextBox 35"/>
          <p:cNvSpPr txBox="1"/>
          <p:nvPr/>
        </p:nvSpPr>
        <p:spPr>
          <a:xfrm>
            <a:off x="8321040" y="1600200"/>
            <a:ext cx="3108960" cy="4114800"/>
          </a:xfrm>
          <a:prstGeom prst="rect">
            <a:avLst/>
          </a:prstGeom>
          <a:noFill/>
        </p:spPr>
        <p:txBody>
          <a:bodyPr wrap="square" anchor="t" lIns="0" rIns="0" tIns="0" bIns="0">
            <a:spAutoFit/>
          </a:bodyPr>
          <a:lstStyle/>
          <a:p>
            <a:pPr algn="l">
              <a:lnSpc>
                <a:spcPct val="125000"/>
              </a:lnSpc>
              <a:spcBef>
                <a:spcPts val="0"/>
              </a:spcBef>
              <a:spcAft>
                <a:spcPts val="1200"/>
              </a:spcAft>
            </a:pPr>
            <a:r>
              <a:rPr sz="1000" b="1" i="0">
                <a:solidFill>
                  <a:srgbClr val="0F172A"/>
                </a:solidFill>
                <a:latin typeface="Segoe UI"/>
              </a:rPr>
              <a:t>WHY THIS SHAPE</a:t>
            </a:r>
          </a:p>
          <a:p>
            <a:pPr algn="l">
              <a:lnSpc>
                <a:spcPct val="125000"/>
              </a:lnSpc>
              <a:spcBef>
                <a:spcPts val="0"/>
              </a:spcBef>
              <a:spcAft>
                <a:spcPts val="300"/>
              </a:spcAft>
            </a:pPr>
            <a:r>
              <a:rPr sz="1150" b="1" i="0">
                <a:solidFill>
                  <a:srgbClr val="0F766E"/>
                </a:solidFill>
                <a:latin typeface="Segoe UI"/>
              </a:rPr>
              <a:t>Deterministic before probabilistic</a:t>
            </a:r>
          </a:p>
          <a:p>
            <a:pPr algn="l">
              <a:lnSpc>
                <a:spcPct val="125000"/>
              </a:lnSpc>
              <a:spcBef>
                <a:spcPts val="0"/>
              </a:spcBef>
              <a:spcAft>
                <a:spcPts val="1300"/>
              </a:spcAft>
            </a:pPr>
            <a:r>
              <a:rPr sz="1050" b="0" i="0">
                <a:solidFill>
                  <a:srgbClr val="475569"/>
                </a:solidFill>
                <a:latin typeface="Segoe UI"/>
              </a:rPr>
              <a:t>Safety-critical decisions never depend on a model's mood.</a:t>
            </a:r>
          </a:p>
          <a:p>
            <a:pPr algn="l">
              <a:lnSpc>
                <a:spcPct val="125000"/>
              </a:lnSpc>
              <a:spcBef>
                <a:spcPts val="0"/>
              </a:spcBef>
              <a:spcAft>
                <a:spcPts val="300"/>
              </a:spcAft>
            </a:pPr>
            <a:r>
              <a:rPr sz="1150" b="1" i="0">
                <a:solidFill>
                  <a:srgbClr val="0F766E"/>
                </a:solidFill>
                <a:latin typeface="Segoe UI"/>
              </a:rPr>
              <a:t>Vendor-neutral by construction</a:t>
            </a:r>
          </a:p>
          <a:p>
            <a:pPr algn="l">
              <a:lnSpc>
                <a:spcPct val="125000"/>
              </a:lnSpc>
              <a:spcBef>
                <a:spcPts val="0"/>
              </a:spcBef>
              <a:spcAft>
                <a:spcPts val="1300"/>
              </a:spcAft>
            </a:pPr>
            <a:r>
              <a:rPr sz="1050" b="0" i="0">
                <a:solidFill>
                  <a:srgbClr val="475569"/>
                </a:solidFill>
                <a:latin typeface="Segoe UI"/>
              </a:rPr>
              <a:t>The adapter is the only file that knows Gemini from OpenAI.</a:t>
            </a:r>
          </a:p>
          <a:p>
            <a:pPr algn="l">
              <a:lnSpc>
                <a:spcPct val="125000"/>
              </a:lnSpc>
              <a:spcBef>
                <a:spcPts val="0"/>
              </a:spcBef>
              <a:spcAft>
                <a:spcPts val="300"/>
              </a:spcAft>
            </a:pPr>
            <a:r>
              <a:rPr sz="1150" b="1" i="0">
                <a:solidFill>
                  <a:srgbClr val="0F766E"/>
                </a:solidFill>
                <a:latin typeface="Segoe UI"/>
              </a:rPr>
              <a:t>Fail-soft, never fail-open</a:t>
            </a:r>
          </a:p>
          <a:p>
            <a:pPr algn="l">
              <a:lnSpc>
                <a:spcPct val="125000"/>
              </a:lnSpc>
              <a:spcBef>
                <a:spcPts val="0"/>
              </a:spcBef>
              <a:spcAft>
                <a:spcPts val="1300"/>
              </a:spcAft>
            </a:pPr>
            <a:r>
              <a:rPr sz="1050" b="0" i="0">
                <a:solidFill>
                  <a:srgbClr val="475569"/>
                </a:solidFill>
                <a:latin typeface="Segoe UI"/>
              </a:rPr>
              <a:t>Provider down → degraded rules-only advice, still safe.</a:t>
            </a:r>
          </a:p>
          <a:p>
            <a:pPr algn="l">
              <a:lnSpc>
                <a:spcPct val="125000"/>
              </a:lnSpc>
              <a:spcBef>
                <a:spcPts val="0"/>
              </a:spcBef>
              <a:spcAft>
                <a:spcPts val="300"/>
              </a:spcAft>
            </a:pPr>
            <a:r>
              <a:rPr sz="1150" b="1" i="0">
                <a:solidFill>
                  <a:srgbClr val="0F766E"/>
                </a:solidFill>
                <a:latin typeface="Segoe UI"/>
              </a:rPr>
              <a:t>Privacy at the boundary</a:t>
            </a:r>
          </a:p>
          <a:p>
            <a:pPr algn="l">
              <a:lnSpc>
                <a:spcPct val="125000"/>
              </a:lnSpc>
              <a:spcBef>
                <a:spcPts val="0"/>
              </a:spcBef>
              <a:spcAft>
                <a:spcPts val="1300"/>
              </a:spcAft>
            </a:pPr>
            <a:r>
              <a:rPr sz="1050" b="0" i="0">
                <a:solidFill>
                  <a:srgbClr val="475569"/>
                </a:solidFill>
                <a:latin typeface="Segoe UI"/>
              </a:rPr>
              <a:t>Identifiers never reach a third-party API.</a:t>
            </a:r>
          </a:p>
          <a:p>
            <a:pPr algn="l">
              <a:lnSpc>
                <a:spcPct val="125000"/>
              </a:lnSpc>
              <a:spcBef>
                <a:spcPts val="0"/>
              </a:spcBef>
              <a:spcAft>
                <a:spcPts val="300"/>
              </a:spcAft>
            </a:pPr>
            <a:r>
              <a:rPr sz="1150" b="1" i="0">
                <a:solidFill>
                  <a:srgbClr val="0F766E"/>
                </a:solidFill>
                <a:latin typeface="Segoe UI"/>
              </a:rPr>
              <a:t>Auditable</a:t>
            </a:r>
          </a:p>
          <a:p>
            <a:pPr algn="l">
              <a:lnSpc>
                <a:spcPct val="125000"/>
              </a:lnSpc>
              <a:spcBef>
                <a:spcPts val="0"/>
              </a:spcBef>
              <a:spcAft>
                <a:spcPts val="1300"/>
              </a:spcAft>
            </a:pPr>
            <a:r>
              <a:rPr sz="1050" b="0" i="0">
                <a:solidFill>
                  <a:srgbClr val="475569"/>
                </a:solidFill>
                <a:latin typeface="Segoe UI"/>
              </a:rPr>
              <a:t>Every AI input and output is logged for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DATA VIEW  ·  MONGODB COLLECTIONS</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Data Model</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11</a:t>
            </a:r>
          </a:p>
        </p:txBody>
      </p:sp>
      <p:sp>
        <p:nvSpPr>
          <p:cNvPr id="8" name="Rounded Rectangle 7"/>
          <p:cNvSpPr/>
          <p:nvPr/>
        </p:nvSpPr>
        <p:spPr>
          <a:xfrm>
            <a:off x="566928" y="1371600"/>
            <a:ext cx="3520440" cy="2048256"/>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ounded Rectangle 8"/>
          <p:cNvSpPr/>
          <p:nvPr/>
        </p:nvSpPr>
        <p:spPr>
          <a:xfrm>
            <a:off x="566928" y="1371600"/>
            <a:ext cx="3520440" cy="420624"/>
          </a:xfrm>
          <a:prstGeom prst="roundRect">
            <a:avLst>
              <a:gd name="adj" fmla="val 12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lnSpc>
                <a:spcPct val="110000"/>
              </a:lnSpc>
            </a:pPr>
            <a:r>
              <a:rPr sz="1200" b="1">
                <a:solidFill>
                  <a:srgbClr val="0F766E"/>
                </a:solidFill>
                <a:latin typeface="Segoe UI"/>
              </a:rPr>
              <a:t>users</a:t>
            </a:r>
          </a:p>
        </p:txBody>
      </p:sp>
      <p:sp>
        <p:nvSpPr>
          <p:cNvPr id="10" name="TextBox 9"/>
          <p:cNvSpPr txBox="1"/>
          <p:nvPr/>
        </p:nvSpPr>
        <p:spPr>
          <a:xfrm>
            <a:off x="804672" y="1938528"/>
            <a:ext cx="3063240" cy="1417320"/>
          </a:xfrm>
          <a:prstGeom prst="rect">
            <a:avLst/>
          </a:prstGeom>
          <a:noFill/>
        </p:spPr>
        <p:txBody>
          <a:bodyPr wrap="square" anchor="t" lIns="0" rIns="0" tIns="0" bIns="0">
            <a:spAutoFit/>
          </a:bodyPr>
          <a:lstStyle/>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_id, email (unique idx)</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passwordHash  (bcrypt)</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profile: age, sex, allergies[]</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chronicConditions[]</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createdAt, lastLoginAt</a:t>
            </a:r>
          </a:p>
        </p:txBody>
      </p:sp>
      <p:sp>
        <p:nvSpPr>
          <p:cNvPr id="11" name="Rounded Rectangle 10"/>
          <p:cNvSpPr/>
          <p:nvPr/>
        </p:nvSpPr>
        <p:spPr>
          <a:xfrm>
            <a:off x="4315968" y="1371600"/>
            <a:ext cx="3520440" cy="2048256"/>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ounded Rectangle 11"/>
          <p:cNvSpPr/>
          <p:nvPr/>
        </p:nvSpPr>
        <p:spPr>
          <a:xfrm>
            <a:off x="4315968" y="1371600"/>
            <a:ext cx="3520440" cy="4206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lnSpc>
                <a:spcPct val="110000"/>
              </a:lnSpc>
            </a:pPr>
            <a:r>
              <a:rPr sz="1200" b="1">
                <a:solidFill>
                  <a:srgbClr val="4338CA"/>
                </a:solidFill>
                <a:latin typeface="Segoe UI"/>
              </a:rPr>
              <a:t>symptom_sessions</a:t>
            </a:r>
          </a:p>
        </p:txBody>
      </p:sp>
      <p:sp>
        <p:nvSpPr>
          <p:cNvPr id="13" name="TextBox 12"/>
          <p:cNvSpPr txBox="1"/>
          <p:nvPr/>
        </p:nvSpPr>
        <p:spPr>
          <a:xfrm>
            <a:off x="4553712" y="1938528"/>
            <a:ext cx="3063240" cy="1417320"/>
          </a:xfrm>
          <a:prstGeom prst="rect">
            <a:avLst/>
          </a:prstGeom>
          <a:noFill/>
        </p:spPr>
        <p:txBody>
          <a:bodyPr wrap="square" anchor="t" lIns="0" rIns="0" tIns="0" bIns="0">
            <a:spAutoFit/>
          </a:bodyPr>
          <a:lstStyle/>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_id, userId  (idx)</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input: symptoms[], duration, severity</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triageResult: urgency, redFlags[]</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aiResponse  (immutable snapshot)</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confidence, createdAt</a:t>
            </a:r>
          </a:p>
        </p:txBody>
      </p:sp>
      <p:sp>
        <p:nvSpPr>
          <p:cNvPr id="14" name="Rounded Rectangle 13"/>
          <p:cNvSpPr/>
          <p:nvPr/>
        </p:nvSpPr>
        <p:spPr>
          <a:xfrm>
            <a:off x="8065007" y="1371600"/>
            <a:ext cx="3520440" cy="2048256"/>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Rounded Rectangle 14"/>
          <p:cNvSpPr/>
          <p:nvPr/>
        </p:nvSpPr>
        <p:spPr>
          <a:xfrm>
            <a:off x="8065007" y="1371600"/>
            <a:ext cx="3520440" cy="420624"/>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lnSpc>
                <a:spcPct val="110000"/>
              </a:lnSpc>
            </a:pPr>
            <a:r>
              <a:rPr sz="1200" b="1">
                <a:solidFill>
                  <a:srgbClr val="92400E"/>
                </a:solidFill>
                <a:latin typeface="Segoe UI"/>
              </a:rPr>
              <a:t>reports</a:t>
            </a:r>
          </a:p>
        </p:txBody>
      </p:sp>
      <p:sp>
        <p:nvSpPr>
          <p:cNvPr id="16" name="TextBox 15"/>
          <p:cNvSpPr txBox="1"/>
          <p:nvPr/>
        </p:nvSpPr>
        <p:spPr>
          <a:xfrm>
            <a:off x="8302751" y="1938528"/>
            <a:ext cx="3063240" cy="1417320"/>
          </a:xfrm>
          <a:prstGeom prst="rect">
            <a:avLst/>
          </a:prstGeom>
          <a:noFill/>
        </p:spPr>
        <p:txBody>
          <a:bodyPr wrap="square" anchor="t" lIns="0" rIns="0" tIns="0" bIns="0">
            <a:spAutoFit/>
          </a:bodyPr>
          <a:lstStyle/>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_id, userId  (idx)</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fileUrl, mimeType, sizeBytes</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extractedText  (OCR)</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aiSummary, keyValues{}</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uploadedAt</a:t>
            </a:r>
          </a:p>
        </p:txBody>
      </p:sp>
      <p:sp>
        <p:nvSpPr>
          <p:cNvPr id="17" name="Rounded Rectangle 16"/>
          <p:cNvSpPr/>
          <p:nvPr/>
        </p:nvSpPr>
        <p:spPr>
          <a:xfrm>
            <a:off x="566928" y="3675887"/>
            <a:ext cx="3520440" cy="2048256"/>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Rounded Rectangle 17"/>
          <p:cNvSpPr/>
          <p:nvPr/>
        </p:nvSpPr>
        <p:spPr>
          <a:xfrm>
            <a:off x="566928" y="3675887"/>
            <a:ext cx="3520440" cy="420624"/>
          </a:xfrm>
          <a:prstGeom prst="roundRect">
            <a:avLst>
              <a:gd name="adj" fmla="val 12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lnSpc>
                <a:spcPct val="110000"/>
              </a:lnSpc>
            </a:pPr>
            <a:r>
              <a:rPr sz="1200" b="1">
                <a:solidFill>
                  <a:srgbClr val="15803D"/>
                </a:solidFill>
                <a:latin typeface="Segoe UI"/>
              </a:rPr>
              <a:t>reminders</a:t>
            </a:r>
          </a:p>
        </p:txBody>
      </p:sp>
      <p:sp>
        <p:nvSpPr>
          <p:cNvPr id="19" name="TextBox 18"/>
          <p:cNvSpPr txBox="1"/>
          <p:nvPr/>
        </p:nvSpPr>
        <p:spPr>
          <a:xfrm>
            <a:off x="804672" y="4242816"/>
            <a:ext cx="3063240" cy="1417320"/>
          </a:xfrm>
          <a:prstGeom prst="rect">
            <a:avLst/>
          </a:prstGeom>
          <a:noFill/>
        </p:spPr>
        <p:txBody>
          <a:bodyPr wrap="square" anchor="t" lIns="0" rIns="0" tIns="0" bIns="0">
            <a:spAutoFit/>
          </a:bodyPr>
          <a:lstStyle/>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_id, userId  (idx)</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medicineName, dosageNote</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schedule: cron / times[]</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channel, active</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adherenceLog[]  {at, taken}</a:t>
            </a:r>
          </a:p>
        </p:txBody>
      </p:sp>
      <p:sp>
        <p:nvSpPr>
          <p:cNvPr id="20" name="Rounded Rectangle 19"/>
          <p:cNvSpPr/>
          <p:nvPr/>
        </p:nvSpPr>
        <p:spPr>
          <a:xfrm>
            <a:off x="4315968" y="3675887"/>
            <a:ext cx="3520440" cy="2048256"/>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Rounded Rectangle 20"/>
          <p:cNvSpPr/>
          <p:nvPr/>
        </p:nvSpPr>
        <p:spPr>
          <a:xfrm>
            <a:off x="4315968" y="3675887"/>
            <a:ext cx="3520440" cy="420624"/>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lnSpc>
                <a:spcPct val="110000"/>
              </a:lnSpc>
            </a:pPr>
            <a:r>
              <a:rPr sz="1200" b="1">
                <a:solidFill>
                  <a:srgbClr val="075A8C"/>
                </a:solidFill>
                <a:latin typeface="Segoe UI"/>
              </a:rPr>
              <a:t>chat_messages</a:t>
            </a:r>
          </a:p>
        </p:txBody>
      </p:sp>
      <p:sp>
        <p:nvSpPr>
          <p:cNvPr id="22" name="TextBox 21"/>
          <p:cNvSpPr txBox="1"/>
          <p:nvPr/>
        </p:nvSpPr>
        <p:spPr>
          <a:xfrm>
            <a:off x="4553712" y="4242816"/>
            <a:ext cx="3063240" cy="1417320"/>
          </a:xfrm>
          <a:prstGeom prst="rect">
            <a:avLst/>
          </a:prstGeom>
          <a:noFill/>
        </p:spPr>
        <p:txBody>
          <a:bodyPr wrap="square" anchor="t" lIns="0" rIns="0" tIns="0" bIns="0">
            <a:spAutoFit/>
          </a:bodyPr>
          <a:lstStyle/>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_id, userId, sessionId  (idx)</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role: user | assistant</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content, tokensUsed</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createdAt  (TTL optional)</a:t>
            </a:r>
          </a:p>
        </p:txBody>
      </p:sp>
      <p:sp>
        <p:nvSpPr>
          <p:cNvPr id="23" name="Rounded Rectangle 22"/>
          <p:cNvSpPr/>
          <p:nvPr/>
        </p:nvSpPr>
        <p:spPr>
          <a:xfrm>
            <a:off x="8065007" y="3675887"/>
            <a:ext cx="3520440" cy="2048256"/>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Rounded Rectangle 23"/>
          <p:cNvSpPr/>
          <p:nvPr/>
        </p:nvSpPr>
        <p:spPr>
          <a:xfrm>
            <a:off x="8065007" y="3675887"/>
            <a:ext cx="3520440" cy="420624"/>
          </a:xfrm>
          <a:prstGeom prst="roundRect">
            <a:avLst>
              <a:gd name="adj" fmla="val 1200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lnSpc>
                <a:spcPct val="110000"/>
              </a:lnSpc>
            </a:pPr>
            <a:r>
              <a:rPr sz="1200" b="1">
                <a:solidFill>
                  <a:srgbClr val="BE123C"/>
                </a:solidFill>
                <a:latin typeface="Segoe UI"/>
              </a:rPr>
              <a:t>audit_logs</a:t>
            </a:r>
          </a:p>
        </p:txBody>
      </p:sp>
      <p:sp>
        <p:nvSpPr>
          <p:cNvPr id="25" name="TextBox 24"/>
          <p:cNvSpPr txBox="1"/>
          <p:nvPr/>
        </p:nvSpPr>
        <p:spPr>
          <a:xfrm>
            <a:off x="8302751" y="4242816"/>
            <a:ext cx="3063240" cy="1417320"/>
          </a:xfrm>
          <a:prstGeom prst="rect">
            <a:avLst/>
          </a:prstGeom>
          <a:noFill/>
        </p:spPr>
        <p:txBody>
          <a:bodyPr wrap="square" anchor="t" lIns="0" rIns="0" tIns="0" bIns="0">
            <a:spAutoFit/>
          </a:bodyPr>
          <a:lstStyle/>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_id, userId, action</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resource, resourceId</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ipHash, userAgent</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aiProvider, latencyMs</a:t>
            </a:r>
          </a:p>
          <a:p>
            <a:pPr marL="137160" indent="-137160">
              <a:lnSpc>
                <a:spcPct val="122000"/>
              </a:lnSpc>
              <a:spcAft>
                <a:spcPts val="700"/>
              </a:spcAft>
              <a:buClr>
                <a:srgbClr val="94A3B8"/>
              </a:buClr>
              <a:buSzPct val="95000"/>
              <a:buFont typeface="Arial" pitchFamily="34" charset="0"/>
              <a:buChar char="•"/>
            </a:pPr>
            <a:r>
              <a:rPr sz="1000" b="0">
                <a:solidFill>
                  <a:srgbClr val="475569"/>
                </a:solidFill>
                <a:latin typeface="Segoe UI"/>
              </a:rPr>
              <a:t>timestamp</a:t>
            </a:r>
          </a:p>
        </p:txBody>
      </p:sp>
      <p:sp>
        <p:nvSpPr>
          <p:cNvPr id="26" name="Rounded Rectangle 25"/>
          <p:cNvSpPr/>
          <p:nvPr/>
        </p:nvSpPr>
        <p:spPr>
          <a:xfrm>
            <a:off x="566928" y="5815584"/>
            <a:ext cx="11064240" cy="402336"/>
          </a:xfrm>
          <a:prstGeom prst="roundRect">
            <a:avLst>
              <a:gd name="adj" fmla="val 10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0">
                <a:solidFill>
                  <a:srgbClr val="0F766E"/>
                </a:solidFill>
                <a:latin typeface="Segoe UI"/>
              </a:rPr>
              <a:t>Relationships by userId reference  ·  indexed on userId + createdAt for timeline queries  ·  audit_logs is append-only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INTERFACE VIEW</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REST API Design</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12</a:t>
            </a:r>
          </a:p>
        </p:txBody>
      </p:sp>
      <p:graphicFrame>
        <p:nvGraphicFramePr>
          <p:cNvPr id="8" name="Table 7"/>
          <p:cNvGraphicFramePr>
            <a:graphicFrameLocks noGrp="1"/>
          </p:cNvGraphicFramePr>
          <p:nvPr/>
        </p:nvGraphicFramePr>
        <p:xfrm>
          <a:off x="566928" y="1371600"/>
          <a:ext cx="11064239" cy="3803904"/>
        </p:xfrm>
        <a:graphic>
          <a:graphicData uri="http://schemas.openxmlformats.org/drawingml/2006/table">
            <a:tbl>
              <a:tblPr>
                <a:tableStyleId>{5C22544A-7EE6-4342-B048-85BDC9FD1C3A}</a:tableStyleId>
              </a:tblPr>
              <a:tblGrid>
                <a:gridCol w="2003759"/>
                <a:gridCol w="3136320"/>
                <a:gridCol w="4530240"/>
                <a:gridCol w="1393920"/>
              </a:tblGrid>
              <a:tr h="365760">
                <a:tc>
                  <a:txBody>
                    <a:bodyPr wrap="square"/>
                    <a:lstStyle/>
                    <a:p>
                      <a:pPr algn="l">
                        <a:lnSpc>
                          <a:spcPct val="112000"/>
                        </a:lnSpc>
                      </a:pPr>
                      <a:r>
                        <a:rPr sz="1100" b="1">
                          <a:solidFill>
                            <a:srgbClr val="FFFFFF"/>
                          </a:solidFill>
                          <a:latin typeface="Segoe UI"/>
                        </a:rPr>
                        <a:t>Method</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Endpoint</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Purpose</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Auth</a:t>
                      </a:r>
                    </a:p>
                  </a:txBody>
                  <a:tcPr marL="100584" marR="100584" marT="45720" marB="45720" anchor="ctr">
                    <a:solidFill>
                      <a:srgbClr val="0F766E"/>
                    </a:solidFill>
                  </a:tcPr>
                </a:tc>
              </a:tr>
              <a:tr h="429768">
                <a:tc>
                  <a:txBody>
                    <a:bodyPr wrap="square"/>
                    <a:lstStyle/>
                    <a:p>
                      <a:pPr algn="l">
                        <a:lnSpc>
                          <a:spcPct val="112000"/>
                        </a:lnSpc>
                      </a:pPr>
                      <a:r>
                        <a:rPr sz="1100" b="1">
                          <a:solidFill>
                            <a:srgbClr val="0F172A"/>
                          </a:solidFill>
                          <a:latin typeface="Segoe UI"/>
                        </a:rPr>
                        <a:t>POST</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/api/v1/auth/register</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Create account, hash password, issue JWT</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Public</a:t>
                      </a:r>
                    </a:p>
                  </a:txBody>
                  <a:tcPr marL="100584" marR="100584" marT="45720" marB="45720" anchor="ctr">
                    <a:solidFill>
                      <a:srgbClr val="FFFFFF"/>
                    </a:solidFill>
                  </a:tcPr>
                </a:tc>
              </a:tr>
              <a:tr h="429768">
                <a:tc>
                  <a:txBody>
                    <a:bodyPr wrap="square"/>
                    <a:lstStyle/>
                    <a:p>
                      <a:pPr algn="l">
                        <a:lnSpc>
                          <a:spcPct val="112000"/>
                        </a:lnSpc>
                      </a:pPr>
                      <a:r>
                        <a:rPr sz="1100" b="1">
                          <a:solidFill>
                            <a:srgbClr val="0F172A"/>
                          </a:solidFill>
                          <a:latin typeface="Segoe UI"/>
                        </a:rPr>
                        <a:t>POST</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/api/v1/auth/login</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Authenticate, return access + refresh token</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Public</a:t>
                      </a:r>
                    </a:p>
                  </a:txBody>
                  <a:tcPr marL="100584" marR="100584" marT="45720" marB="45720" anchor="ctr">
                    <a:solidFill>
                      <a:srgbClr val="F1F5F9"/>
                    </a:solidFill>
                  </a:tcPr>
                </a:tc>
              </a:tr>
              <a:tr h="429768">
                <a:tc>
                  <a:txBody>
                    <a:bodyPr wrap="square"/>
                    <a:lstStyle/>
                    <a:p>
                      <a:pPr algn="l">
                        <a:lnSpc>
                          <a:spcPct val="112000"/>
                        </a:lnSpc>
                      </a:pPr>
                      <a:r>
                        <a:rPr sz="1100" b="1">
                          <a:solidFill>
                            <a:srgbClr val="0F172A"/>
                          </a:solidFill>
                          <a:latin typeface="Segoe UI"/>
                        </a:rPr>
                        <a:t>POST</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/api/v1/symptoms/analyze</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Run triage → AI pipeline, persist session</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JWT</a:t>
                      </a:r>
                    </a:p>
                  </a:txBody>
                  <a:tcPr marL="100584" marR="100584" marT="45720" marB="45720" anchor="ctr">
                    <a:solidFill>
                      <a:srgbClr val="FFFFFF"/>
                    </a:solidFill>
                  </a:tcPr>
                </a:tc>
              </a:tr>
              <a:tr h="429768">
                <a:tc>
                  <a:txBody>
                    <a:bodyPr wrap="square"/>
                    <a:lstStyle/>
                    <a:p>
                      <a:pPr algn="l">
                        <a:lnSpc>
                          <a:spcPct val="112000"/>
                        </a:lnSpc>
                      </a:pPr>
                      <a:r>
                        <a:rPr sz="1100" b="1">
                          <a:solidFill>
                            <a:srgbClr val="0F172A"/>
                          </a:solidFill>
                          <a:latin typeface="Segoe UI"/>
                        </a:rPr>
                        <a:t>GET</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/api/v1/history?page=&amp;limit=</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Paginated unified timeline for the user</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JWT</a:t>
                      </a:r>
                    </a:p>
                  </a:txBody>
                  <a:tcPr marL="100584" marR="100584" marT="45720" marB="45720" anchor="ctr">
                    <a:solidFill>
                      <a:srgbClr val="F1F5F9"/>
                    </a:solidFill>
                  </a:tcPr>
                </a:tc>
              </a:tr>
              <a:tr h="429768">
                <a:tc>
                  <a:txBody>
                    <a:bodyPr wrap="square"/>
                    <a:lstStyle/>
                    <a:p>
                      <a:pPr algn="l">
                        <a:lnSpc>
                          <a:spcPct val="112000"/>
                        </a:lnSpc>
                      </a:pPr>
                      <a:r>
                        <a:rPr sz="1100" b="1">
                          <a:solidFill>
                            <a:srgbClr val="0F172A"/>
                          </a:solidFill>
                          <a:latin typeface="Segoe UI"/>
                        </a:rPr>
                        <a:t>POST</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/api/v1/reports</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Multipart upload, queue OCR job</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JWT</a:t>
                      </a:r>
                    </a:p>
                  </a:txBody>
                  <a:tcPr marL="100584" marR="100584" marT="45720" marB="45720" anchor="ctr">
                    <a:solidFill>
                      <a:srgbClr val="FFFFFF"/>
                    </a:solidFill>
                  </a:tcPr>
                </a:tc>
              </a:tr>
              <a:tr h="429768">
                <a:tc>
                  <a:txBody>
                    <a:bodyPr wrap="square"/>
                    <a:lstStyle/>
                    <a:p>
                      <a:pPr algn="l">
                        <a:lnSpc>
                          <a:spcPct val="112000"/>
                        </a:lnSpc>
                      </a:pPr>
                      <a:r>
                        <a:rPr sz="1100" b="1">
                          <a:solidFill>
                            <a:srgbClr val="0F172A"/>
                          </a:solidFill>
                          <a:latin typeface="Segoe UI"/>
                        </a:rPr>
                        <a:t>GET</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/api/v1/reports/:id</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Fetch report metadata, summary, signed file URL</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JWT + owner</a:t>
                      </a:r>
                    </a:p>
                  </a:txBody>
                  <a:tcPr marL="100584" marR="100584" marT="45720" marB="45720" anchor="ctr">
                    <a:solidFill>
                      <a:srgbClr val="F1F5F9"/>
                    </a:solidFill>
                  </a:tcPr>
                </a:tc>
              </a:tr>
              <a:tr h="429768">
                <a:tc>
                  <a:txBody>
                    <a:bodyPr wrap="square"/>
                    <a:lstStyle/>
                    <a:p>
                      <a:pPr algn="l">
                        <a:lnSpc>
                          <a:spcPct val="112000"/>
                        </a:lnSpc>
                      </a:pPr>
                      <a:r>
                        <a:rPr sz="1100" b="1">
                          <a:solidFill>
                            <a:srgbClr val="0F172A"/>
                          </a:solidFill>
                          <a:latin typeface="Segoe UI"/>
                        </a:rPr>
                        <a:t>POST</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/api/v1/chat/messages</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Send follow-up message in a session context</a:t>
                      </a:r>
                    </a:p>
                  </a:txBody>
                  <a:tcPr marL="100584" marR="100584" marT="45720" marB="45720" anchor="ctr">
                    <a:solidFill>
                      <a:srgbClr val="FFFFFF"/>
                    </a:solidFill>
                  </a:tcPr>
                </a:tc>
                <a:tc>
                  <a:txBody>
                    <a:bodyPr wrap="square"/>
                    <a:lstStyle/>
                    <a:p>
                      <a:pPr algn="l">
                        <a:lnSpc>
                          <a:spcPct val="112000"/>
                        </a:lnSpc>
                      </a:pPr>
                      <a:r>
                        <a:rPr sz="1100" b="0">
                          <a:solidFill>
                            <a:srgbClr val="475569"/>
                          </a:solidFill>
                          <a:latin typeface="Segoe UI"/>
                        </a:rPr>
                        <a:t>JWT</a:t>
                      </a:r>
                    </a:p>
                  </a:txBody>
                  <a:tcPr marL="100584" marR="100584" marT="45720" marB="45720" anchor="ctr">
                    <a:solidFill>
                      <a:srgbClr val="FFFFFF"/>
                    </a:solidFill>
                  </a:tcPr>
                </a:tc>
              </a:tr>
              <a:tr h="429768">
                <a:tc>
                  <a:txBody>
                    <a:bodyPr wrap="square"/>
                    <a:lstStyle/>
                    <a:p>
                      <a:pPr algn="l">
                        <a:lnSpc>
                          <a:spcPct val="112000"/>
                        </a:lnSpc>
                      </a:pPr>
                      <a:r>
                        <a:rPr sz="1100" b="1">
                          <a:solidFill>
                            <a:srgbClr val="0F172A"/>
                          </a:solidFill>
                          <a:latin typeface="Segoe UI"/>
                        </a:rPr>
                        <a:t>GET / POST / PUT / DELETE</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/api/v1/reminders/:id?</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Full CRUD over medication reminders</a:t>
                      </a:r>
                    </a:p>
                  </a:txBody>
                  <a:tcPr marL="100584" marR="100584" marT="45720" marB="45720" anchor="ctr">
                    <a:solidFill>
                      <a:srgbClr val="F1F5F9"/>
                    </a:solidFill>
                  </a:tcPr>
                </a:tc>
                <a:tc>
                  <a:txBody>
                    <a:bodyPr wrap="square"/>
                    <a:lstStyle/>
                    <a:p>
                      <a:pPr algn="l">
                        <a:lnSpc>
                          <a:spcPct val="112000"/>
                        </a:lnSpc>
                      </a:pPr>
                      <a:r>
                        <a:rPr sz="1100" b="0">
                          <a:solidFill>
                            <a:srgbClr val="475569"/>
                          </a:solidFill>
                          <a:latin typeface="Segoe UI"/>
                        </a:rPr>
                        <a:t>JWT + owner</a:t>
                      </a:r>
                    </a:p>
                  </a:txBody>
                  <a:tcPr marL="100584" marR="100584" marT="45720" marB="45720" anchor="ctr">
                    <a:solidFill>
                      <a:srgbClr val="F1F5F9"/>
                    </a:solidFill>
                  </a:tcPr>
                </a:tc>
              </a:tr>
            </a:tbl>
          </a:graphicData>
        </a:graphic>
      </p:graphicFrame>
      <p:sp>
        <p:nvSpPr>
          <p:cNvPr id="9" name="Rounded Rectangle 8"/>
          <p:cNvSpPr/>
          <p:nvPr/>
        </p:nvSpPr>
        <p:spPr>
          <a:xfrm>
            <a:off x="566928" y="5321808"/>
            <a:ext cx="11064240" cy="914400"/>
          </a:xfrm>
          <a:prstGeom prst="roundRect">
            <a:avLst>
              <a:gd name="adj" fmla="val 10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841248" y="5468112"/>
            <a:ext cx="10515600" cy="731520"/>
          </a:xfrm>
          <a:prstGeom prst="rect">
            <a:avLst/>
          </a:prstGeom>
          <a:noFill/>
        </p:spPr>
        <p:txBody>
          <a:bodyPr wrap="square" anchor="t" lIns="0" rIns="0" tIns="0" bIns="0">
            <a:spAutoFit/>
          </a:bodyPr>
          <a:lstStyle/>
          <a:p>
            <a:pPr algn="l">
              <a:lnSpc>
                <a:spcPct val="125000"/>
              </a:lnSpc>
              <a:spcBef>
                <a:spcPts val="0"/>
              </a:spcBef>
              <a:spcAft>
                <a:spcPts val="700"/>
              </a:spcAft>
            </a:pPr>
            <a:r>
              <a:rPr sz="1000" b="1" i="0">
                <a:solidFill>
                  <a:srgbClr val="0F172A"/>
                </a:solidFill>
                <a:latin typeface="Segoe UI"/>
              </a:rPr>
              <a:t>API CONVENTIONS</a:t>
            </a:r>
          </a:p>
          <a:p>
            <a:pPr>
              <a:lnSpc>
                <a:spcPct val="135000"/>
              </a:lnSpc>
              <a:spcAft>
                <a:spcPts val="900"/>
              </a:spcAft>
            </a:pPr>
            <a:r>
              <a:rPr sz="1150" b="1">
                <a:solidFill>
                  <a:srgbClr val="0F172A"/>
                </a:solidFill>
                <a:latin typeface="Segoe UI"/>
              </a:rPr>
              <a:t>Versioned prefix </a:t>
            </a:r>
            <a:r>
              <a:rPr sz="1150" b="0">
                <a:solidFill>
                  <a:srgbClr val="475569"/>
                </a:solidFill>
                <a:latin typeface="Segoe UI"/>
              </a:rPr>
              <a:t>/api/v1  ·  </a:t>
            </a:r>
            <a:r>
              <a:rPr sz="1150" b="0">
                <a:solidFill>
                  <a:srgbClr val="475569"/>
                </a:solidFill>
                <a:latin typeface="Segoe UI"/>
              </a:rPr>
              <a:t>JSON only  ·  </a:t>
            </a:r>
            <a:r>
              <a:rPr sz="1150" b="1">
                <a:solidFill>
                  <a:srgbClr val="0F172A"/>
                </a:solidFill>
                <a:latin typeface="Segoe UI"/>
              </a:rPr>
              <a:t>Bearer JWT </a:t>
            </a:r>
            <a:r>
              <a:rPr sz="1150" b="0">
                <a:solidFill>
                  <a:srgbClr val="475569"/>
                </a:solidFill>
                <a:latin typeface="Segoe UI"/>
              </a:rPr>
              <a:t>in Authorization header  ·  </a:t>
            </a:r>
            <a:r>
              <a:rPr sz="1150" b="1">
                <a:solidFill>
                  <a:srgbClr val="0F172A"/>
                </a:solidFill>
                <a:latin typeface="Segoe UI"/>
              </a:rPr>
              <a:t>Uniform error envelope </a:t>
            </a:r>
            <a:r>
              <a:rPr sz="1150" b="0">
                <a:solidFill>
                  <a:srgbClr val="475569"/>
                </a:solidFill>
                <a:latin typeface="Segoe UI"/>
              </a:rPr>
              <a:t>{ success, data, error: { code, message } }  ·  </a:t>
            </a:r>
            <a:r>
              <a:rPr sz="1150" b="1">
                <a:solidFill>
                  <a:srgbClr val="0F172A"/>
                </a:solidFill>
                <a:latin typeface="Segoe UI"/>
              </a:rPr>
              <a:t>Correct status codes </a:t>
            </a:r>
            <a:r>
              <a:rPr sz="1150" b="0">
                <a:solidFill>
                  <a:srgbClr val="475569"/>
                </a:solidFill>
                <a:latin typeface="Segoe UI"/>
              </a:rPr>
              <a:t>(200 / 201 / 400 / 401 / 403 / 404 / 429 / 503)  ·  </a:t>
            </a:r>
            <a:r>
              <a:rPr sz="1150" b="1">
                <a:solidFill>
                  <a:srgbClr val="0F172A"/>
                </a:solidFill>
                <a:latin typeface="Segoe UI"/>
              </a:rPr>
              <a:t>Pagination </a:t>
            </a:r>
            <a:r>
              <a:rPr sz="1150" b="0">
                <a:solidFill>
                  <a:srgbClr val="475569"/>
                </a:solidFill>
                <a:latin typeface="Segoe UI"/>
              </a:rPr>
              <a:t>on every list endpoint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ADRS  ·  DECISION LOG</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Key Architectural Decisions</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13</a:t>
            </a:r>
          </a:p>
        </p:txBody>
      </p:sp>
      <p:graphicFrame>
        <p:nvGraphicFramePr>
          <p:cNvPr id="8" name="Table 7"/>
          <p:cNvGraphicFramePr>
            <a:graphicFrameLocks noGrp="1"/>
          </p:cNvGraphicFramePr>
          <p:nvPr/>
        </p:nvGraphicFramePr>
        <p:xfrm>
          <a:off x="566928" y="1371600"/>
          <a:ext cx="11064240" cy="4700016"/>
        </p:xfrm>
        <a:graphic>
          <a:graphicData uri="http://schemas.openxmlformats.org/drawingml/2006/table">
            <a:tbl>
              <a:tblPr>
                <a:tableStyleId>{5C22544A-7EE6-4342-B048-85BDC9FD1C3A}</a:tableStyleId>
              </a:tblPr>
              <a:tblGrid>
                <a:gridCol w="868680"/>
                <a:gridCol w="2743200"/>
                <a:gridCol w="4480560"/>
                <a:gridCol w="2971800"/>
              </a:tblGrid>
              <a:tr h="365760">
                <a:tc>
                  <a:txBody>
                    <a:bodyPr wrap="square"/>
                    <a:lstStyle/>
                    <a:p>
                      <a:pPr algn="l">
                        <a:lnSpc>
                          <a:spcPct val="112000"/>
                        </a:lnSpc>
                      </a:pPr>
                      <a:r>
                        <a:rPr sz="1100" b="1">
                          <a:solidFill>
                            <a:srgbClr val="FFFFFF"/>
                          </a:solidFill>
                          <a:latin typeface="Segoe UI"/>
                        </a:rPr>
                        <a:t>ID</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Decision</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Rationale</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Trade-off accepted</a:t>
                      </a:r>
                    </a:p>
                  </a:txBody>
                  <a:tcPr marL="100584" marR="100584" marT="45720" marB="45720" anchor="ctr">
                    <a:solidFill>
                      <a:srgbClr val="0F766E"/>
                    </a:solidFill>
                  </a:tcPr>
                </a:tc>
              </a:tr>
              <a:tr h="722376">
                <a:tc>
                  <a:txBody>
                    <a:bodyPr wrap="square"/>
                    <a:lstStyle/>
                    <a:p>
                      <a:pPr algn="l">
                        <a:lnSpc>
                          <a:spcPct val="112000"/>
                        </a:lnSpc>
                      </a:pPr>
                      <a:r>
                        <a:rPr sz="1050" b="1">
                          <a:solidFill>
                            <a:srgbClr val="0F172A"/>
                          </a:solidFill>
                          <a:latin typeface="Segoe UI"/>
                        </a:rPr>
                        <a:t>ADR-01</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Modular monolith, not microservices</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One deployable unit fits a 4-person team and a semester timeline; module seams preserved</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Whole app scales together; extraction work deferred</a:t>
                      </a:r>
                    </a:p>
                  </a:txBody>
                  <a:tcPr marL="100584" marR="100584" marT="45720" marB="45720" anchor="ctr">
                    <a:solidFill>
                      <a:srgbClr val="FFFFFF"/>
                    </a:solidFill>
                  </a:tcPr>
                </a:tc>
              </a:tr>
              <a:tr h="722376">
                <a:tc>
                  <a:txBody>
                    <a:bodyPr wrap="square"/>
                    <a:lstStyle/>
                    <a:p>
                      <a:pPr algn="l">
                        <a:lnSpc>
                          <a:spcPct val="112000"/>
                        </a:lnSpc>
                      </a:pPr>
                      <a:r>
                        <a:rPr sz="1050" b="1">
                          <a:solidFill>
                            <a:srgbClr val="0F172A"/>
                          </a:solidFill>
                          <a:latin typeface="Segoe UI"/>
                        </a:rPr>
                        <a:t>ADR-02</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Deterministic triage engine in front of the AI</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Safety-critical escalation must not depend on a probabilistic model</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Rules table must be curated and maintained manually</a:t>
                      </a:r>
                    </a:p>
                  </a:txBody>
                  <a:tcPr marL="100584" marR="100584" marT="45720" marB="45720" anchor="ctr">
                    <a:solidFill>
                      <a:srgbClr val="F1F5F9"/>
                    </a:solidFill>
                  </a:tcPr>
                </a:tc>
              </a:tr>
              <a:tr h="722376">
                <a:tc>
                  <a:txBody>
                    <a:bodyPr wrap="square"/>
                    <a:lstStyle/>
                    <a:p>
                      <a:pPr algn="l">
                        <a:lnSpc>
                          <a:spcPct val="112000"/>
                        </a:lnSpc>
                      </a:pPr>
                      <a:r>
                        <a:rPr sz="1050" b="1">
                          <a:solidFill>
                            <a:srgbClr val="0F172A"/>
                          </a:solidFill>
                          <a:latin typeface="Segoe UI"/>
                        </a:rPr>
                        <a:t>ADR-03</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MongoDB over MySQL</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Sessions and reports are nested, schema-evolving documents; no heavy joins in our workload</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Weaker cross-collection integrity; enforced in application code</a:t>
                      </a:r>
                    </a:p>
                  </a:txBody>
                  <a:tcPr marL="100584" marR="100584" marT="45720" marB="45720" anchor="ctr">
                    <a:solidFill>
                      <a:srgbClr val="FFFFFF"/>
                    </a:solidFill>
                  </a:tcPr>
                </a:tc>
              </a:tr>
              <a:tr h="722376">
                <a:tc>
                  <a:txBody>
                    <a:bodyPr wrap="square"/>
                    <a:lstStyle/>
                    <a:p>
                      <a:pPr algn="l">
                        <a:lnSpc>
                          <a:spcPct val="112000"/>
                        </a:lnSpc>
                      </a:pPr>
                      <a:r>
                        <a:rPr sz="1050" b="1">
                          <a:solidFill>
                            <a:srgbClr val="0F172A"/>
                          </a:solidFill>
                          <a:latin typeface="Segoe UI"/>
                        </a:rPr>
                        <a:t>ADR-04</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AI provider behind an Adapter interface</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Avoids vendor lock-in; enables fallback, A/B cost comparison and offline mocking in tests</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One extra indirection layer to build and maintain</a:t>
                      </a:r>
                    </a:p>
                  </a:txBody>
                  <a:tcPr marL="100584" marR="100584" marT="45720" marB="45720" anchor="ctr">
                    <a:solidFill>
                      <a:srgbClr val="F1F5F9"/>
                    </a:solidFill>
                  </a:tcPr>
                </a:tc>
              </a:tr>
              <a:tr h="722376">
                <a:tc>
                  <a:txBody>
                    <a:bodyPr wrap="square"/>
                    <a:lstStyle/>
                    <a:p>
                      <a:pPr algn="l">
                        <a:lnSpc>
                          <a:spcPct val="112000"/>
                        </a:lnSpc>
                      </a:pPr>
                      <a:r>
                        <a:rPr sz="1050" b="1">
                          <a:solidFill>
                            <a:srgbClr val="0F172A"/>
                          </a:solidFill>
                          <a:latin typeface="Segoe UI"/>
                        </a:rPr>
                        <a:t>ADR-05</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Stateless JWT authentication</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No server session store → any instance serves any request; horizontal scaling is trivial</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Token revocation needs a short TTL plus refresh-token rotation</a:t>
                      </a:r>
                    </a:p>
                  </a:txBody>
                  <a:tcPr marL="100584" marR="100584" marT="45720" marB="45720" anchor="ctr">
                    <a:solidFill>
                      <a:srgbClr val="FFFFFF"/>
                    </a:solidFill>
                  </a:tcPr>
                </a:tc>
              </a:tr>
              <a:tr h="722376">
                <a:tc>
                  <a:txBody>
                    <a:bodyPr wrap="square"/>
                    <a:lstStyle/>
                    <a:p>
                      <a:pPr algn="l">
                        <a:lnSpc>
                          <a:spcPct val="112000"/>
                        </a:lnSpc>
                      </a:pPr>
                      <a:r>
                        <a:rPr sz="1050" b="1">
                          <a:solidFill>
                            <a:srgbClr val="0F172A"/>
                          </a:solidFill>
                          <a:latin typeface="Segoe UI"/>
                        </a:rPr>
                        <a:t>ADR-06</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Async queue for OCR and reminders</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Keeps p95 request latency low; slow work never blocks the user's thread</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Adds a worker process and eventual-consistency semantics</a:t>
                      </a:r>
                    </a:p>
                  </a:txBody>
                  <a:tcPr marL="100584" marR="100584" marT="45720" marB="45720" anchor="ctr">
                    <a:solidFill>
                      <a:srgbClr val="F1F5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NON-FUNCTIONAL REQUIREMENTS</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Quality Attributes &amp; Architectural Tactics</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14</a:t>
            </a:r>
          </a:p>
        </p:txBody>
      </p:sp>
      <p:graphicFrame>
        <p:nvGraphicFramePr>
          <p:cNvPr id="8" name="Table 7"/>
          <p:cNvGraphicFramePr>
            <a:graphicFrameLocks noGrp="1"/>
          </p:cNvGraphicFramePr>
          <p:nvPr/>
        </p:nvGraphicFramePr>
        <p:xfrm>
          <a:off x="566928" y="1371600"/>
          <a:ext cx="11064239" cy="4754880"/>
        </p:xfrm>
        <a:graphic>
          <a:graphicData uri="http://schemas.openxmlformats.org/drawingml/2006/table">
            <a:tbl>
              <a:tblPr>
                <a:tableStyleId>{5C22544A-7EE6-4342-B048-85BDC9FD1C3A}</a:tableStyleId>
              </a:tblPr>
              <a:tblGrid>
                <a:gridCol w="1463040"/>
                <a:gridCol w="4206239"/>
                <a:gridCol w="5394960"/>
              </a:tblGrid>
              <a:tr h="365760">
                <a:tc>
                  <a:txBody>
                    <a:bodyPr wrap="square"/>
                    <a:lstStyle/>
                    <a:p>
                      <a:pPr algn="l">
                        <a:lnSpc>
                          <a:spcPct val="112000"/>
                        </a:lnSpc>
                      </a:pPr>
                      <a:r>
                        <a:rPr sz="1100" b="1">
                          <a:solidFill>
                            <a:srgbClr val="FFFFFF"/>
                          </a:solidFill>
                          <a:latin typeface="Segoe UI"/>
                        </a:rPr>
                        <a:t>Attribute</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Measurable scenario</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Architectural tactic</a:t>
                      </a:r>
                    </a:p>
                  </a:txBody>
                  <a:tcPr marL="100584" marR="100584" marT="45720" marB="45720" anchor="ctr">
                    <a:solidFill>
                      <a:srgbClr val="0F766E"/>
                    </a:solidFill>
                  </a:tcPr>
                </a:tc>
              </a:tr>
              <a:tr h="548640">
                <a:tc>
                  <a:txBody>
                    <a:bodyPr wrap="square"/>
                    <a:lstStyle/>
                    <a:p>
                      <a:pPr algn="l">
                        <a:lnSpc>
                          <a:spcPct val="112000"/>
                        </a:lnSpc>
                      </a:pPr>
                      <a:r>
                        <a:rPr sz="1050" b="1">
                          <a:solidFill>
                            <a:srgbClr val="0F172A"/>
                          </a:solidFill>
                          <a:latin typeface="Segoe UI"/>
                        </a:rPr>
                        <a:t>Safety</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100% of defined red-flag combinations escalate, even if the AI is unavailable</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Deterministic rules engine evaluated before the AI call; rules-only fallback path</a:t>
                      </a:r>
                    </a:p>
                  </a:txBody>
                  <a:tcPr marL="100584" marR="100584" marT="45720" marB="45720" anchor="ctr">
                    <a:solidFill>
                      <a:srgbClr val="FFFFFF"/>
                    </a:solidFill>
                  </a:tcPr>
                </a:tc>
              </a:tr>
              <a:tr h="548640">
                <a:tc>
                  <a:txBody>
                    <a:bodyPr wrap="square"/>
                    <a:lstStyle/>
                    <a:p>
                      <a:pPr algn="l">
                        <a:lnSpc>
                          <a:spcPct val="112000"/>
                        </a:lnSpc>
                      </a:pPr>
                      <a:r>
                        <a:rPr sz="1050" b="1">
                          <a:solidFill>
                            <a:srgbClr val="0F172A"/>
                          </a:solidFill>
                          <a:latin typeface="Segoe UI"/>
                        </a:rPr>
                        <a:t>Privacy</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No direct identifier ever leaves our trust boundary</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PII redaction stage in the AI layer; encryption at rest; append-only audit log</a:t>
                      </a:r>
                    </a:p>
                  </a:txBody>
                  <a:tcPr marL="100584" marR="100584" marT="45720" marB="45720" anchor="ctr">
                    <a:solidFill>
                      <a:srgbClr val="F1F5F9"/>
                    </a:solidFill>
                  </a:tcPr>
                </a:tc>
              </a:tr>
              <a:tr h="548640">
                <a:tc>
                  <a:txBody>
                    <a:bodyPr wrap="square"/>
                    <a:lstStyle/>
                    <a:p>
                      <a:pPr algn="l">
                        <a:lnSpc>
                          <a:spcPct val="112000"/>
                        </a:lnSpc>
                      </a:pPr>
                      <a:r>
                        <a:rPr sz="1050" b="1">
                          <a:solidFill>
                            <a:srgbClr val="0F172A"/>
                          </a:solidFill>
                          <a:latin typeface="Segoe UI"/>
                        </a:rPr>
                        <a:t>Performance</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p95 response for symptom analysis under 3 s at 100 concurrent users</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Redis cache for repeated queries; async offload of OCR; indexed queries; streaming responses</a:t>
                      </a:r>
                    </a:p>
                  </a:txBody>
                  <a:tcPr marL="100584" marR="100584" marT="45720" marB="45720" anchor="ctr">
                    <a:solidFill>
                      <a:srgbClr val="FFFFFF"/>
                    </a:solidFill>
                  </a:tcPr>
                </a:tc>
              </a:tr>
              <a:tr h="548640">
                <a:tc>
                  <a:txBody>
                    <a:bodyPr wrap="square"/>
                    <a:lstStyle/>
                    <a:p>
                      <a:pPr algn="l">
                        <a:lnSpc>
                          <a:spcPct val="112000"/>
                        </a:lnSpc>
                      </a:pPr>
                      <a:r>
                        <a:rPr sz="1050" b="1">
                          <a:solidFill>
                            <a:srgbClr val="0F172A"/>
                          </a:solidFill>
                          <a:latin typeface="Segoe UI"/>
                        </a:rPr>
                        <a:t>Availability</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Core triage stays usable when a single AI provider fails</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Circuit breaker, provider fallback, graceful degradation to rules-only mode</a:t>
                      </a:r>
                    </a:p>
                  </a:txBody>
                  <a:tcPr marL="100584" marR="100584" marT="45720" marB="45720" anchor="ctr">
                    <a:solidFill>
                      <a:srgbClr val="F1F5F9"/>
                    </a:solidFill>
                  </a:tcPr>
                </a:tc>
              </a:tr>
              <a:tr h="548640">
                <a:tc>
                  <a:txBody>
                    <a:bodyPr wrap="square"/>
                    <a:lstStyle/>
                    <a:p>
                      <a:pPr algn="l">
                        <a:lnSpc>
                          <a:spcPct val="112000"/>
                        </a:lnSpc>
                      </a:pPr>
                      <a:r>
                        <a:rPr sz="1050" b="1">
                          <a:solidFill>
                            <a:srgbClr val="0F172A"/>
                          </a:solidFill>
                          <a:latin typeface="Segoe UI"/>
                        </a:rPr>
                        <a:t>Modifiability</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Swap AI vendor or database with changes confined to one layer</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Adapter and Repository patterns; strict layer dependency rule; DTOs at every boundary</a:t>
                      </a:r>
                    </a:p>
                  </a:txBody>
                  <a:tcPr marL="100584" marR="100584" marT="45720" marB="45720" anchor="ctr">
                    <a:solidFill>
                      <a:srgbClr val="FFFFFF"/>
                    </a:solidFill>
                  </a:tcPr>
                </a:tc>
              </a:tr>
              <a:tr h="548640">
                <a:tc>
                  <a:txBody>
                    <a:bodyPr wrap="square"/>
                    <a:lstStyle/>
                    <a:p>
                      <a:pPr algn="l">
                        <a:lnSpc>
                          <a:spcPct val="112000"/>
                        </a:lnSpc>
                      </a:pPr>
                      <a:r>
                        <a:rPr sz="1050" b="1">
                          <a:solidFill>
                            <a:srgbClr val="0F172A"/>
                          </a:solidFill>
                          <a:latin typeface="Segoe UI"/>
                        </a:rPr>
                        <a:t>Scalability</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Handle traffic growth without re-architecting</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Stateless API instances behind a load balancer; managed DB with connection pooling</a:t>
                      </a:r>
                    </a:p>
                  </a:txBody>
                  <a:tcPr marL="100584" marR="100584" marT="45720" marB="45720" anchor="ctr">
                    <a:solidFill>
                      <a:srgbClr val="F1F5F9"/>
                    </a:solidFill>
                  </a:tcPr>
                </a:tc>
              </a:tr>
              <a:tr h="548640">
                <a:tc>
                  <a:txBody>
                    <a:bodyPr wrap="square"/>
                    <a:lstStyle/>
                    <a:p>
                      <a:pPr algn="l">
                        <a:lnSpc>
                          <a:spcPct val="112000"/>
                        </a:lnSpc>
                      </a:pPr>
                      <a:r>
                        <a:rPr sz="1050" b="1">
                          <a:solidFill>
                            <a:srgbClr val="0F172A"/>
                          </a:solidFill>
                          <a:latin typeface="Segoe UI"/>
                        </a:rPr>
                        <a:t>Security</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Withstand credential stuffing and injection attempts</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bcrypt hashing, rate limiting, schema validation at the edge, Helmet headers, RBAC</a:t>
                      </a:r>
                    </a:p>
                  </a:txBody>
                  <a:tcPr marL="100584" marR="100584" marT="45720" marB="45720" anchor="ctr">
                    <a:solidFill>
                      <a:srgbClr val="FFFFFF"/>
                    </a:solidFill>
                  </a:tcPr>
                </a:tc>
              </a:tr>
              <a:tr h="548640">
                <a:tc>
                  <a:txBody>
                    <a:bodyPr wrap="square"/>
                    <a:lstStyle/>
                    <a:p>
                      <a:pPr algn="l">
                        <a:lnSpc>
                          <a:spcPct val="112000"/>
                        </a:lnSpc>
                      </a:pPr>
                      <a:r>
                        <a:rPr sz="1050" b="1">
                          <a:solidFill>
                            <a:srgbClr val="0F172A"/>
                          </a:solidFill>
                          <a:latin typeface="Segoe UI"/>
                        </a:rPr>
                        <a:t>Usability</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A non-technical user completes an analysis in under 90 seconds</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Guided structured intake instead of free-text; plain-language output with urgency colour coding</a:t>
                      </a:r>
                    </a:p>
                  </a:txBody>
                  <a:tcPr marL="100584" marR="100584" marT="45720" marB="45720" anchor="ctr">
                    <a:solidFill>
                      <a:srgbClr val="F1F5F9"/>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ARCHITECTURE &amp; DESIGN</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Design Patterns Applied</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15</a:t>
            </a:r>
          </a:p>
        </p:txBody>
      </p:sp>
      <p:sp>
        <p:nvSpPr>
          <p:cNvPr id="8" name="Rounded Rectangle 7"/>
          <p:cNvSpPr/>
          <p:nvPr/>
        </p:nvSpPr>
        <p:spPr>
          <a:xfrm>
            <a:off x="566928" y="1417320"/>
            <a:ext cx="3520440" cy="129844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ounded Rectangle 8"/>
          <p:cNvSpPr/>
          <p:nvPr/>
        </p:nvSpPr>
        <p:spPr>
          <a:xfrm>
            <a:off x="804672" y="1655064"/>
            <a:ext cx="256032" cy="256032"/>
          </a:xfrm>
          <a:prstGeom prst="roundRect">
            <a:avLst>
              <a:gd name="adj" fmla="val 50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Rounded Rectangle 9"/>
          <p:cNvSpPr/>
          <p:nvPr/>
        </p:nvSpPr>
        <p:spPr>
          <a:xfrm>
            <a:off x="873252" y="1723644"/>
            <a:ext cx="118872" cy="11887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TextBox 10"/>
          <p:cNvSpPr txBox="1"/>
          <p:nvPr/>
        </p:nvSpPr>
        <p:spPr>
          <a:xfrm>
            <a:off x="1170432" y="1636776"/>
            <a:ext cx="2697480" cy="914400"/>
          </a:xfrm>
          <a:prstGeom prst="rect">
            <a:avLst/>
          </a:prstGeom>
          <a:noFill/>
        </p:spPr>
        <p:txBody>
          <a:bodyPr wrap="square" anchor="t" lIns="0" rIns="0" tIns="0" bIns="0">
            <a:spAutoFit/>
          </a:bodyPr>
          <a:lstStyle/>
          <a:p>
            <a:pPr algn="l">
              <a:lnSpc>
                <a:spcPct val="125000"/>
              </a:lnSpc>
              <a:spcBef>
                <a:spcPts val="0"/>
              </a:spcBef>
              <a:spcAft>
                <a:spcPts val="500"/>
              </a:spcAft>
            </a:pPr>
            <a:r>
              <a:rPr sz="1250" b="1" i="0">
                <a:solidFill>
                  <a:srgbClr val="0F172A"/>
                </a:solidFill>
                <a:latin typeface="Segoe UI"/>
              </a:rPr>
              <a:t>Layered</a:t>
            </a:r>
          </a:p>
          <a:p>
            <a:pPr algn="l">
              <a:lnSpc>
                <a:spcPct val="125000"/>
              </a:lnSpc>
              <a:spcBef>
                <a:spcPts val="0"/>
              </a:spcBef>
              <a:spcAft>
                <a:spcPts val="0"/>
              </a:spcAft>
            </a:pPr>
            <a:r>
              <a:rPr sz="1050" b="0" i="0">
                <a:solidFill>
                  <a:srgbClr val="475569"/>
                </a:solidFill>
                <a:latin typeface="Segoe UI"/>
              </a:rPr>
              <a:t>Overall system decomposition into five stacked layers</a:t>
            </a:r>
          </a:p>
        </p:txBody>
      </p:sp>
      <p:sp>
        <p:nvSpPr>
          <p:cNvPr id="12" name="Rounded Rectangle 11"/>
          <p:cNvSpPr/>
          <p:nvPr/>
        </p:nvSpPr>
        <p:spPr>
          <a:xfrm>
            <a:off x="4315968" y="1417320"/>
            <a:ext cx="3520440" cy="129844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Rounded Rectangle 12"/>
          <p:cNvSpPr/>
          <p:nvPr/>
        </p:nvSpPr>
        <p:spPr>
          <a:xfrm>
            <a:off x="4553712" y="1655064"/>
            <a:ext cx="256032" cy="25603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Rounded Rectangle 13"/>
          <p:cNvSpPr/>
          <p:nvPr/>
        </p:nvSpPr>
        <p:spPr>
          <a:xfrm>
            <a:off x="4622292" y="1723644"/>
            <a:ext cx="118872" cy="118872"/>
          </a:xfrm>
          <a:prstGeom prst="roundRect">
            <a:avLst>
              <a:gd name="adj" fmla="val 50000"/>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4919472" y="1636776"/>
            <a:ext cx="2697480" cy="914400"/>
          </a:xfrm>
          <a:prstGeom prst="rect">
            <a:avLst/>
          </a:prstGeom>
          <a:noFill/>
        </p:spPr>
        <p:txBody>
          <a:bodyPr wrap="square" anchor="t" lIns="0" rIns="0" tIns="0" bIns="0">
            <a:spAutoFit/>
          </a:bodyPr>
          <a:lstStyle/>
          <a:p>
            <a:pPr algn="l">
              <a:lnSpc>
                <a:spcPct val="125000"/>
              </a:lnSpc>
              <a:spcBef>
                <a:spcPts val="0"/>
              </a:spcBef>
              <a:spcAft>
                <a:spcPts val="500"/>
              </a:spcAft>
            </a:pPr>
            <a:r>
              <a:rPr sz="1250" b="1" i="0">
                <a:solidFill>
                  <a:srgbClr val="0F172A"/>
                </a:solidFill>
                <a:latin typeface="Segoe UI"/>
              </a:rPr>
              <a:t>Adapter</a:t>
            </a:r>
          </a:p>
          <a:p>
            <a:pPr algn="l">
              <a:lnSpc>
                <a:spcPct val="125000"/>
              </a:lnSpc>
              <a:spcBef>
                <a:spcPts val="0"/>
              </a:spcBef>
              <a:spcAft>
                <a:spcPts val="0"/>
              </a:spcAft>
            </a:pPr>
            <a:r>
              <a:rPr sz="1050" b="0" i="0">
                <a:solidFill>
                  <a:srgbClr val="475569"/>
                </a:solidFill>
                <a:latin typeface="Segoe UI"/>
              </a:rPr>
              <a:t>AiProviderAdapter — one interface, Gemini or OpenAI behind it</a:t>
            </a:r>
          </a:p>
        </p:txBody>
      </p:sp>
      <p:sp>
        <p:nvSpPr>
          <p:cNvPr id="16" name="Rounded Rectangle 15"/>
          <p:cNvSpPr/>
          <p:nvPr/>
        </p:nvSpPr>
        <p:spPr>
          <a:xfrm>
            <a:off x="8065007" y="1417320"/>
            <a:ext cx="3520440" cy="129844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Rounded Rectangle 16"/>
          <p:cNvSpPr/>
          <p:nvPr/>
        </p:nvSpPr>
        <p:spPr>
          <a:xfrm>
            <a:off x="8302751" y="1655064"/>
            <a:ext cx="256032" cy="256032"/>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Rounded Rectangle 17"/>
          <p:cNvSpPr/>
          <p:nvPr/>
        </p:nvSpPr>
        <p:spPr>
          <a:xfrm>
            <a:off x="8371331" y="1723644"/>
            <a:ext cx="118872" cy="118872"/>
          </a:xfrm>
          <a:prstGeom prst="roundRect">
            <a:avLst>
              <a:gd name="adj" fmla="val 50000"/>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TextBox 18"/>
          <p:cNvSpPr txBox="1"/>
          <p:nvPr/>
        </p:nvSpPr>
        <p:spPr>
          <a:xfrm>
            <a:off x="8668511" y="1636776"/>
            <a:ext cx="2697480" cy="914400"/>
          </a:xfrm>
          <a:prstGeom prst="rect">
            <a:avLst/>
          </a:prstGeom>
          <a:noFill/>
        </p:spPr>
        <p:txBody>
          <a:bodyPr wrap="square" anchor="t" lIns="0" rIns="0" tIns="0" bIns="0">
            <a:spAutoFit/>
          </a:bodyPr>
          <a:lstStyle/>
          <a:p>
            <a:pPr algn="l">
              <a:lnSpc>
                <a:spcPct val="125000"/>
              </a:lnSpc>
              <a:spcBef>
                <a:spcPts val="0"/>
              </a:spcBef>
              <a:spcAft>
                <a:spcPts val="500"/>
              </a:spcAft>
            </a:pPr>
            <a:r>
              <a:rPr sz="1250" b="1" i="0">
                <a:solidFill>
                  <a:srgbClr val="0F172A"/>
                </a:solidFill>
                <a:latin typeface="Segoe UI"/>
              </a:rPr>
              <a:t>Repository</a:t>
            </a:r>
          </a:p>
          <a:p>
            <a:pPr algn="l">
              <a:lnSpc>
                <a:spcPct val="125000"/>
              </a:lnSpc>
              <a:spcBef>
                <a:spcPts val="0"/>
              </a:spcBef>
              <a:spcAft>
                <a:spcPts val="0"/>
              </a:spcAft>
            </a:pPr>
            <a:r>
              <a:rPr sz="1050" b="0" i="0">
                <a:solidFill>
                  <a:srgbClr val="475569"/>
                </a:solidFill>
                <a:latin typeface="Segoe UI"/>
              </a:rPr>
              <a:t>UserRepository, ReportRepository — hides Mongoose from services</a:t>
            </a:r>
          </a:p>
        </p:txBody>
      </p:sp>
      <p:sp>
        <p:nvSpPr>
          <p:cNvPr id="20" name="Rounded Rectangle 19"/>
          <p:cNvSpPr/>
          <p:nvPr/>
        </p:nvSpPr>
        <p:spPr>
          <a:xfrm>
            <a:off x="566928" y="2953512"/>
            <a:ext cx="3520440" cy="129844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Rounded Rectangle 20"/>
          <p:cNvSpPr/>
          <p:nvPr/>
        </p:nvSpPr>
        <p:spPr>
          <a:xfrm>
            <a:off x="804672" y="3191256"/>
            <a:ext cx="256032" cy="256032"/>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Rounded Rectangle 21"/>
          <p:cNvSpPr/>
          <p:nvPr/>
        </p:nvSpPr>
        <p:spPr>
          <a:xfrm>
            <a:off x="873252" y="3259836"/>
            <a:ext cx="118872" cy="1188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TextBox 22"/>
          <p:cNvSpPr txBox="1"/>
          <p:nvPr/>
        </p:nvSpPr>
        <p:spPr>
          <a:xfrm>
            <a:off x="1170432" y="3172968"/>
            <a:ext cx="2697480" cy="914400"/>
          </a:xfrm>
          <a:prstGeom prst="rect">
            <a:avLst/>
          </a:prstGeom>
          <a:noFill/>
        </p:spPr>
        <p:txBody>
          <a:bodyPr wrap="square" anchor="t" lIns="0" rIns="0" tIns="0" bIns="0">
            <a:spAutoFit/>
          </a:bodyPr>
          <a:lstStyle/>
          <a:p>
            <a:pPr algn="l">
              <a:lnSpc>
                <a:spcPct val="125000"/>
              </a:lnSpc>
              <a:spcBef>
                <a:spcPts val="0"/>
              </a:spcBef>
              <a:spcAft>
                <a:spcPts val="500"/>
              </a:spcAft>
            </a:pPr>
            <a:r>
              <a:rPr sz="1250" b="1" i="0">
                <a:solidFill>
                  <a:srgbClr val="0F172A"/>
                </a:solidFill>
                <a:latin typeface="Segoe UI"/>
              </a:rPr>
              <a:t>Strategy</a:t>
            </a:r>
          </a:p>
          <a:p>
            <a:pPr algn="l">
              <a:lnSpc>
                <a:spcPct val="125000"/>
              </a:lnSpc>
              <a:spcBef>
                <a:spcPts val="0"/>
              </a:spcBef>
              <a:spcAft>
                <a:spcPts val="0"/>
              </a:spcAft>
            </a:pPr>
            <a:r>
              <a:rPr sz="1050" b="0" i="0">
                <a:solidFill>
                  <a:srgbClr val="475569"/>
                </a:solidFill>
                <a:latin typeface="Segoe UI"/>
              </a:rPr>
              <a:t>Interchangeable prompt strategies per symptom category</a:t>
            </a:r>
          </a:p>
        </p:txBody>
      </p:sp>
      <p:sp>
        <p:nvSpPr>
          <p:cNvPr id="24" name="Rounded Rectangle 23"/>
          <p:cNvSpPr/>
          <p:nvPr/>
        </p:nvSpPr>
        <p:spPr>
          <a:xfrm>
            <a:off x="4315968" y="2953512"/>
            <a:ext cx="3520440" cy="129844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Rounded Rectangle 24"/>
          <p:cNvSpPr/>
          <p:nvPr/>
        </p:nvSpPr>
        <p:spPr>
          <a:xfrm>
            <a:off x="4553712" y="3191256"/>
            <a:ext cx="256032" cy="256032"/>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Rounded Rectangle 25"/>
          <p:cNvSpPr/>
          <p:nvPr/>
        </p:nvSpPr>
        <p:spPr>
          <a:xfrm>
            <a:off x="4622292" y="3259836"/>
            <a:ext cx="118872" cy="118872"/>
          </a:xfrm>
          <a:prstGeom prst="roundRect">
            <a:avLst>
              <a:gd name="adj" fmla="val 50000"/>
            </a:avLst>
          </a:prstGeom>
          <a:solidFill>
            <a:srgbClr val="075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TextBox 26"/>
          <p:cNvSpPr txBox="1"/>
          <p:nvPr/>
        </p:nvSpPr>
        <p:spPr>
          <a:xfrm>
            <a:off x="4919472" y="3172968"/>
            <a:ext cx="2697480" cy="914400"/>
          </a:xfrm>
          <a:prstGeom prst="rect">
            <a:avLst/>
          </a:prstGeom>
          <a:noFill/>
        </p:spPr>
        <p:txBody>
          <a:bodyPr wrap="square" anchor="t" lIns="0" rIns="0" tIns="0" bIns="0">
            <a:spAutoFit/>
          </a:bodyPr>
          <a:lstStyle/>
          <a:p>
            <a:pPr algn="l">
              <a:lnSpc>
                <a:spcPct val="125000"/>
              </a:lnSpc>
              <a:spcBef>
                <a:spcPts val="0"/>
              </a:spcBef>
              <a:spcAft>
                <a:spcPts val="500"/>
              </a:spcAft>
            </a:pPr>
            <a:r>
              <a:rPr sz="1250" b="1" i="0">
                <a:solidFill>
                  <a:srgbClr val="0F172A"/>
                </a:solidFill>
                <a:latin typeface="Segoe UI"/>
              </a:rPr>
              <a:t>Chain of Responsibility</a:t>
            </a:r>
          </a:p>
          <a:p>
            <a:pPr algn="l">
              <a:lnSpc>
                <a:spcPct val="125000"/>
              </a:lnSpc>
              <a:spcBef>
                <a:spcPts val="0"/>
              </a:spcBef>
              <a:spcAft>
                <a:spcPts val="0"/>
              </a:spcAft>
            </a:pPr>
            <a:r>
              <a:rPr sz="1050" b="0" i="0">
                <a:solidFill>
                  <a:srgbClr val="475569"/>
                </a:solidFill>
                <a:latin typeface="Segoe UI"/>
              </a:rPr>
              <a:t>Express middleware pipeline: auth → validate → limit → handle</a:t>
            </a:r>
          </a:p>
        </p:txBody>
      </p:sp>
      <p:sp>
        <p:nvSpPr>
          <p:cNvPr id="28" name="Rounded Rectangle 27"/>
          <p:cNvSpPr/>
          <p:nvPr/>
        </p:nvSpPr>
        <p:spPr>
          <a:xfrm>
            <a:off x="8065007" y="2953512"/>
            <a:ext cx="3520440" cy="129844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Rounded Rectangle 28"/>
          <p:cNvSpPr/>
          <p:nvPr/>
        </p:nvSpPr>
        <p:spPr>
          <a:xfrm>
            <a:off x="8302751" y="3191256"/>
            <a:ext cx="256032" cy="256032"/>
          </a:xfrm>
          <a:prstGeom prst="roundRect">
            <a:avLst>
              <a:gd name="adj" fmla="val 50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Rounded Rectangle 29"/>
          <p:cNvSpPr/>
          <p:nvPr/>
        </p:nvSpPr>
        <p:spPr>
          <a:xfrm>
            <a:off x="8371331" y="3259836"/>
            <a:ext cx="118872" cy="11887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TextBox 30"/>
          <p:cNvSpPr txBox="1"/>
          <p:nvPr/>
        </p:nvSpPr>
        <p:spPr>
          <a:xfrm>
            <a:off x="8668511" y="3172968"/>
            <a:ext cx="2697480" cy="914400"/>
          </a:xfrm>
          <a:prstGeom prst="rect">
            <a:avLst/>
          </a:prstGeom>
          <a:noFill/>
        </p:spPr>
        <p:txBody>
          <a:bodyPr wrap="square" anchor="t" lIns="0" rIns="0" tIns="0" bIns="0">
            <a:spAutoFit/>
          </a:bodyPr>
          <a:lstStyle/>
          <a:p>
            <a:pPr algn="l">
              <a:lnSpc>
                <a:spcPct val="125000"/>
              </a:lnSpc>
              <a:spcBef>
                <a:spcPts val="0"/>
              </a:spcBef>
              <a:spcAft>
                <a:spcPts val="500"/>
              </a:spcAft>
            </a:pPr>
            <a:r>
              <a:rPr sz="1250" b="1" i="0">
                <a:solidFill>
                  <a:srgbClr val="0F172A"/>
                </a:solidFill>
                <a:latin typeface="Segoe UI"/>
              </a:rPr>
              <a:t>Facade</a:t>
            </a:r>
          </a:p>
          <a:p>
            <a:pPr algn="l">
              <a:lnSpc>
                <a:spcPct val="125000"/>
              </a:lnSpc>
              <a:spcBef>
                <a:spcPts val="0"/>
              </a:spcBef>
              <a:spcAft>
                <a:spcPts val="0"/>
              </a:spcAft>
            </a:pPr>
            <a:r>
              <a:rPr sz="1050" b="0" i="0">
                <a:solidFill>
                  <a:srgbClr val="475569"/>
                </a:solidFill>
                <a:latin typeface="Segoe UI"/>
              </a:rPr>
              <a:t>AiOrchestrator exposes one call over a seven-stage pipeline</a:t>
            </a:r>
          </a:p>
        </p:txBody>
      </p:sp>
      <p:sp>
        <p:nvSpPr>
          <p:cNvPr id="32" name="Rounded Rectangle 31"/>
          <p:cNvSpPr/>
          <p:nvPr/>
        </p:nvSpPr>
        <p:spPr>
          <a:xfrm>
            <a:off x="566928" y="4489704"/>
            <a:ext cx="3520440" cy="129844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Rounded Rectangle 32"/>
          <p:cNvSpPr/>
          <p:nvPr/>
        </p:nvSpPr>
        <p:spPr>
          <a:xfrm>
            <a:off x="804672" y="4727448"/>
            <a:ext cx="256032" cy="256032"/>
          </a:xfrm>
          <a:prstGeom prst="roundRect">
            <a:avLst>
              <a:gd name="adj" fmla="val 5000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Rounded Rectangle 33"/>
          <p:cNvSpPr/>
          <p:nvPr/>
        </p:nvSpPr>
        <p:spPr>
          <a:xfrm>
            <a:off x="873252" y="4796028"/>
            <a:ext cx="118872" cy="118872"/>
          </a:xfrm>
          <a:prstGeom prst="roundRect">
            <a:avLst>
              <a:gd name="adj" fmla="val 50000"/>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TextBox 34"/>
          <p:cNvSpPr txBox="1"/>
          <p:nvPr/>
        </p:nvSpPr>
        <p:spPr>
          <a:xfrm>
            <a:off x="1170432" y="4709160"/>
            <a:ext cx="2697480" cy="914400"/>
          </a:xfrm>
          <a:prstGeom prst="rect">
            <a:avLst/>
          </a:prstGeom>
          <a:noFill/>
        </p:spPr>
        <p:txBody>
          <a:bodyPr wrap="square" anchor="t" lIns="0" rIns="0" tIns="0" bIns="0">
            <a:spAutoFit/>
          </a:bodyPr>
          <a:lstStyle/>
          <a:p>
            <a:pPr algn="l">
              <a:lnSpc>
                <a:spcPct val="125000"/>
              </a:lnSpc>
              <a:spcBef>
                <a:spcPts val="0"/>
              </a:spcBef>
              <a:spcAft>
                <a:spcPts val="500"/>
              </a:spcAft>
            </a:pPr>
            <a:r>
              <a:rPr sz="1250" b="1" i="0">
                <a:solidFill>
                  <a:srgbClr val="0F172A"/>
                </a:solidFill>
                <a:latin typeface="Segoe UI"/>
              </a:rPr>
              <a:t>Observer / Pub-Sub</a:t>
            </a:r>
          </a:p>
          <a:p>
            <a:pPr algn="l">
              <a:lnSpc>
                <a:spcPct val="125000"/>
              </a:lnSpc>
              <a:spcBef>
                <a:spcPts val="0"/>
              </a:spcBef>
              <a:spcAft>
                <a:spcPts val="0"/>
              </a:spcAft>
            </a:pPr>
            <a:r>
              <a:rPr sz="1050" b="0" i="0">
                <a:solidFill>
                  <a:srgbClr val="475569"/>
                </a:solidFill>
                <a:latin typeface="Segoe UI"/>
              </a:rPr>
              <a:t>Reminder events fan out to notification channels</a:t>
            </a:r>
          </a:p>
        </p:txBody>
      </p:sp>
      <p:sp>
        <p:nvSpPr>
          <p:cNvPr id="36" name="Rounded Rectangle 35"/>
          <p:cNvSpPr/>
          <p:nvPr/>
        </p:nvSpPr>
        <p:spPr>
          <a:xfrm>
            <a:off x="4315968" y="4489704"/>
            <a:ext cx="3520440" cy="129844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Rounded Rectangle 36"/>
          <p:cNvSpPr/>
          <p:nvPr/>
        </p:nvSpPr>
        <p:spPr>
          <a:xfrm>
            <a:off x="4553712" y="4727448"/>
            <a:ext cx="256032" cy="25603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Rounded Rectangle 37"/>
          <p:cNvSpPr/>
          <p:nvPr/>
        </p:nvSpPr>
        <p:spPr>
          <a:xfrm>
            <a:off x="4622292" y="4796028"/>
            <a:ext cx="118872" cy="118872"/>
          </a:xfrm>
          <a:prstGeom prst="roundRect">
            <a:avLst>
              <a:gd name="adj" fmla="val 50000"/>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TextBox 38"/>
          <p:cNvSpPr txBox="1"/>
          <p:nvPr/>
        </p:nvSpPr>
        <p:spPr>
          <a:xfrm>
            <a:off x="4919472" y="4709160"/>
            <a:ext cx="2697480" cy="914400"/>
          </a:xfrm>
          <a:prstGeom prst="rect">
            <a:avLst/>
          </a:prstGeom>
          <a:noFill/>
        </p:spPr>
        <p:txBody>
          <a:bodyPr wrap="square" anchor="t" lIns="0" rIns="0" tIns="0" bIns="0">
            <a:spAutoFit/>
          </a:bodyPr>
          <a:lstStyle/>
          <a:p>
            <a:pPr algn="l">
              <a:lnSpc>
                <a:spcPct val="125000"/>
              </a:lnSpc>
              <a:spcBef>
                <a:spcPts val="0"/>
              </a:spcBef>
              <a:spcAft>
                <a:spcPts val="500"/>
              </a:spcAft>
            </a:pPr>
            <a:r>
              <a:rPr sz="1250" b="1" i="0">
                <a:solidFill>
                  <a:srgbClr val="0F172A"/>
                </a:solidFill>
                <a:latin typeface="Segoe UI"/>
              </a:rPr>
              <a:t>Circuit Breaker</a:t>
            </a:r>
          </a:p>
          <a:p>
            <a:pPr algn="l">
              <a:lnSpc>
                <a:spcPct val="125000"/>
              </a:lnSpc>
              <a:spcBef>
                <a:spcPts val="0"/>
              </a:spcBef>
              <a:spcAft>
                <a:spcPts val="0"/>
              </a:spcAft>
            </a:pPr>
            <a:r>
              <a:rPr sz="1050" b="0" i="0">
                <a:solidFill>
                  <a:srgbClr val="475569"/>
                </a:solidFill>
                <a:latin typeface="Segoe UI"/>
              </a:rPr>
              <a:t>Trips after repeated AI provider failures; opens the fallback path</a:t>
            </a:r>
          </a:p>
        </p:txBody>
      </p:sp>
      <p:sp>
        <p:nvSpPr>
          <p:cNvPr id="40" name="Rounded Rectangle 39"/>
          <p:cNvSpPr/>
          <p:nvPr/>
        </p:nvSpPr>
        <p:spPr>
          <a:xfrm>
            <a:off x="8065007" y="4489704"/>
            <a:ext cx="3520440" cy="129844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Rounded Rectangle 40"/>
          <p:cNvSpPr/>
          <p:nvPr/>
        </p:nvSpPr>
        <p:spPr>
          <a:xfrm>
            <a:off x="8302751" y="4727448"/>
            <a:ext cx="256032" cy="256032"/>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Rounded Rectangle 41"/>
          <p:cNvSpPr/>
          <p:nvPr/>
        </p:nvSpPr>
        <p:spPr>
          <a:xfrm>
            <a:off x="8371331" y="4796028"/>
            <a:ext cx="118872" cy="118872"/>
          </a:xfrm>
          <a:prstGeom prst="roundRect">
            <a:avLst>
              <a:gd name="adj" fmla="val 50000"/>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TextBox 42"/>
          <p:cNvSpPr txBox="1"/>
          <p:nvPr/>
        </p:nvSpPr>
        <p:spPr>
          <a:xfrm>
            <a:off x="8668511" y="4709160"/>
            <a:ext cx="2697480" cy="914400"/>
          </a:xfrm>
          <a:prstGeom prst="rect">
            <a:avLst/>
          </a:prstGeom>
          <a:noFill/>
        </p:spPr>
        <p:txBody>
          <a:bodyPr wrap="square" anchor="t" lIns="0" rIns="0" tIns="0" bIns="0">
            <a:spAutoFit/>
          </a:bodyPr>
          <a:lstStyle/>
          <a:p>
            <a:pPr algn="l">
              <a:lnSpc>
                <a:spcPct val="125000"/>
              </a:lnSpc>
              <a:spcBef>
                <a:spcPts val="0"/>
              </a:spcBef>
              <a:spcAft>
                <a:spcPts val="500"/>
              </a:spcAft>
            </a:pPr>
            <a:r>
              <a:rPr sz="1250" b="1" i="0">
                <a:solidFill>
                  <a:srgbClr val="0F172A"/>
                </a:solidFill>
                <a:latin typeface="Segoe UI"/>
              </a:rPr>
              <a:t>DTO</a:t>
            </a:r>
          </a:p>
          <a:p>
            <a:pPr algn="l">
              <a:lnSpc>
                <a:spcPct val="125000"/>
              </a:lnSpc>
              <a:spcBef>
                <a:spcPts val="0"/>
              </a:spcBef>
              <a:spcAft>
                <a:spcPts val="0"/>
              </a:spcAft>
            </a:pPr>
            <a:r>
              <a:rPr sz="1050" b="0" i="0">
                <a:solidFill>
                  <a:srgbClr val="475569"/>
                </a:solidFill>
                <a:latin typeface="Segoe UI"/>
              </a:rPr>
              <a:t>Typed objects crossing every layer boundary — no leaking internals</a:t>
            </a:r>
          </a:p>
        </p:txBody>
      </p:sp>
      <p:sp>
        <p:nvSpPr>
          <p:cNvPr id="44" name="Rounded Rectangle 43"/>
          <p:cNvSpPr/>
          <p:nvPr/>
        </p:nvSpPr>
        <p:spPr>
          <a:xfrm>
            <a:off x="566928" y="5943600"/>
            <a:ext cx="11064240" cy="365760"/>
          </a:xfrm>
          <a:prstGeom prst="roundRect">
            <a:avLst>
              <a:gd name="adj" fmla="val 10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0">
                <a:solidFill>
                  <a:srgbClr val="0F766E"/>
                </a:solidFill>
                <a:latin typeface="Segoe UI"/>
              </a:rPr>
              <a:t>Each pattern is justified by a quality attribute — Adapter serves modifiability, Circuit Breaker serves availability, Repository serves testability.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CROSS-CUTTING CONCERN</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Security &amp; Privacy Architecture</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16</a:t>
            </a:r>
          </a:p>
        </p:txBody>
      </p:sp>
      <p:sp>
        <p:nvSpPr>
          <p:cNvPr id="8" name="Rounded Rectangle 7"/>
          <p:cNvSpPr/>
          <p:nvPr/>
        </p:nvSpPr>
        <p:spPr>
          <a:xfrm>
            <a:off x="566928" y="1389888"/>
            <a:ext cx="2587752" cy="402336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ounded Rectangle 8"/>
          <p:cNvSpPr/>
          <p:nvPr/>
        </p:nvSpPr>
        <p:spPr>
          <a:xfrm>
            <a:off x="566928" y="1389888"/>
            <a:ext cx="2587752" cy="420624"/>
          </a:xfrm>
          <a:prstGeom prst="roundRect">
            <a:avLst>
              <a:gd name="adj" fmla="val 12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50" b="1">
                <a:solidFill>
                  <a:srgbClr val="0F766E"/>
                </a:solidFill>
                <a:latin typeface="Segoe UI"/>
              </a:rPr>
              <a:t>IDENTITY</a:t>
            </a:r>
          </a:p>
        </p:txBody>
      </p:sp>
      <p:sp>
        <p:nvSpPr>
          <p:cNvPr id="10" name="TextBox 9"/>
          <p:cNvSpPr txBox="1"/>
          <p:nvPr/>
        </p:nvSpPr>
        <p:spPr>
          <a:xfrm>
            <a:off x="768096" y="1975104"/>
            <a:ext cx="2212848" cy="3291840"/>
          </a:xfrm>
          <a:prstGeom prst="rect">
            <a:avLst/>
          </a:prstGeom>
          <a:noFill/>
        </p:spPr>
        <p:txBody>
          <a:bodyPr wrap="square" anchor="t" lIns="0" rIns="0" tIns="0" bIns="0">
            <a:spAutoFit/>
          </a:bodyPr>
          <a:lstStyle/>
          <a:p>
            <a:pPr marL="155448" indent="-155448">
              <a:lnSpc>
                <a:spcPct val="122000"/>
              </a:lnSpc>
              <a:spcAft>
                <a:spcPts val="1300"/>
              </a:spcAft>
              <a:buClr>
                <a:srgbClr val="0F766E"/>
              </a:buClr>
              <a:buSzPct val="80000"/>
              <a:buFont typeface="Arial" pitchFamily="34" charset="0"/>
              <a:buChar char="▪"/>
            </a:pPr>
            <a:r>
              <a:rPr sz="1050" b="0">
                <a:solidFill>
                  <a:srgbClr val="475569"/>
                </a:solidFill>
                <a:latin typeface="Segoe UI"/>
              </a:rPr>
              <a:t>bcrypt password hashing with salt rounds</a:t>
            </a:r>
          </a:p>
          <a:p>
            <a:pPr marL="155448" indent="-155448">
              <a:lnSpc>
                <a:spcPct val="122000"/>
              </a:lnSpc>
              <a:spcAft>
                <a:spcPts val="1300"/>
              </a:spcAft>
              <a:buClr>
                <a:srgbClr val="0F766E"/>
              </a:buClr>
              <a:buSzPct val="80000"/>
              <a:buFont typeface="Arial" pitchFamily="34" charset="0"/>
              <a:buChar char="▪"/>
            </a:pPr>
            <a:r>
              <a:rPr sz="1050" b="0">
                <a:solidFill>
                  <a:srgbClr val="475569"/>
                </a:solidFill>
                <a:latin typeface="Segoe UI"/>
              </a:rPr>
              <a:t>JWT access token, short TTL</a:t>
            </a:r>
          </a:p>
          <a:p>
            <a:pPr marL="155448" indent="-155448">
              <a:lnSpc>
                <a:spcPct val="122000"/>
              </a:lnSpc>
              <a:spcAft>
                <a:spcPts val="1300"/>
              </a:spcAft>
              <a:buClr>
                <a:srgbClr val="0F766E"/>
              </a:buClr>
              <a:buSzPct val="80000"/>
              <a:buFont typeface="Arial" pitchFamily="34" charset="0"/>
              <a:buChar char="▪"/>
            </a:pPr>
            <a:r>
              <a:rPr sz="1050" b="0">
                <a:solidFill>
                  <a:srgbClr val="475569"/>
                </a:solidFill>
                <a:latin typeface="Segoe UI"/>
              </a:rPr>
              <a:t>Refresh-token rotation on use</a:t>
            </a:r>
          </a:p>
          <a:p>
            <a:pPr marL="155448" indent="-155448">
              <a:lnSpc>
                <a:spcPct val="122000"/>
              </a:lnSpc>
              <a:spcAft>
                <a:spcPts val="1300"/>
              </a:spcAft>
              <a:buClr>
                <a:srgbClr val="0F766E"/>
              </a:buClr>
              <a:buSzPct val="80000"/>
              <a:buFont typeface="Arial" pitchFamily="34" charset="0"/>
              <a:buChar char="▪"/>
            </a:pPr>
            <a:r>
              <a:rPr sz="1050" b="0">
                <a:solidFill>
                  <a:srgbClr val="475569"/>
                </a:solidFill>
                <a:latin typeface="Segoe UI"/>
              </a:rPr>
              <a:t>Role-based access: user / admin</a:t>
            </a:r>
          </a:p>
          <a:p>
            <a:pPr marL="155448" indent="-155448">
              <a:lnSpc>
                <a:spcPct val="122000"/>
              </a:lnSpc>
              <a:spcAft>
                <a:spcPts val="1300"/>
              </a:spcAft>
              <a:buClr>
                <a:srgbClr val="0F766E"/>
              </a:buClr>
              <a:buSzPct val="80000"/>
              <a:buFont typeface="Arial" pitchFamily="34" charset="0"/>
              <a:buChar char="▪"/>
            </a:pPr>
            <a:r>
              <a:rPr sz="1050" b="0">
                <a:solidFill>
                  <a:srgbClr val="475569"/>
                </a:solidFill>
                <a:latin typeface="Segoe UI"/>
              </a:rPr>
              <a:t>Ownership check on every resource</a:t>
            </a:r>
          </a:p>
        </p:txBody>
      </p:sp>
      <p:sp>
        <p:nvSpPr>
          <p:cNvPr id="11" name="Rounded Rectangle 10"/>
          <p:cNvSpPr/>
          <p:nvPr/>
        </p:nvSpPr>
        <p:spPr>
          <a:xfrm>
            <a:off x="3383280" y="1389888"/>
            <a:ext cx="2587752" cy="402336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ounded Rectangle 11"/>
          <p:cNvSpPr/>
          <p:nvPr/>
        </p:nvSpPr>
        <p:spPr>
          <a:xfrm>
            <a:off x="3383280" y="1389888"/>
            <a:ext cx="2587752" cy="420624"/>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50" b="1">
                <a:solidFill>
                  <a:srgbClr val="075A8C"/>
                </a:solidFill>
                <a:latin typeface="Segoe UI"/>
              </a:rPr>
              <a:t>TRANSPORT &amp; EDGE</a:t>
            </a:r>
          </a:p>
        </p:txBody>
      </p:sp>
      <p:sp>
        <p:nvSpPr>
          <p:cNvPr id="13" name="TextBox 12"/>
          <p:cNvSpPr txBox="1"/>
          <p:nvPr/>
        </p:nvSpPr>
        <p:spPr>
          <a:xfrm>
            <a:off x="3584448" y="1975104"/>
            <a:ext cx="2212848" cy="3291840"/>
          </a:xfrm>
          <a:prstGeom prst="rect">
            <a:avLst/>
          </a:prstGeom>
          <a:noFill/>
        </p:spPr>
        <p:txBody>
          <a:bodyPr wrap="square" anchor="t" lIns="0" rIns="0" tIns="0" bIns="0">
            <a:spAutoFit/>
          </a:bodyPr>
          <a:lstStyle/>
          <a:p>
            <a:pPr marL="155448" indent="-155448">
              <a:lnSpc>
                <a:spcPct val="122000"/>
              </a:lnSpc>
              <a:spcAft>
                <a:spcPts val="1300"/>
              </a:spcAft>
              <a:buClr>
                <a:srgbClr val="075A8C"/>
              </a:buClr>
              <a:buSzPct val="80000"/>
              <a:buFont typeface="Arial" pitchFamily="34" charset="0"/>
              <a:buChar char="▪"/>
            </a:pPr>
            <a:r>
              <a:rPr sz="1050" b="0">
                <a:solidFill>
                  <a:srgbClr val="475569"/>
                </a:solidFill>
                <a:latin typeface="Segoe UI"/>
              </a:rPr>
              <a:t>HTTPS / TLS enforced end to end</a:t>
            </a:r>
          </a:p>
          <a:p>
            <a:pPr marL="155448" indent="-155448">
              <a:lnSpc>
                <a:spcPct val="122000"/>
              </a:lnSpc>
              <a:spcAft>
                <a:spcPts val="1300"/>
              </a:spcAft>
              <a:buClr>
                <a:srgbClr val="075A8C"/>
              </a:buClr>
              <a:buSzPct val="80000"/>
              <a:buFont typeface="Arial" pitchFamily="34" charset="0"/>
              <a:buChar char="▪"/>
            </a:pPr>
            <a:r>
              <a:rPr sz="1050" b="0">
                <a:solidFill>
                  <a:srgbClr val="475569"/>
                </a:solidFill>
                <a:latin typeface="Segoe UI"/>
              </a:rPr>
              <a:t>Helmet security headers</a:t>
            </a:r>
          </a:p>
          <a:p>
            <a:pPr marL="155448" indent="-155448">
              <a:lnSpc>
                <a:spcPct val="122000"/>
              </a:lnSpc>
              <a:spcAft>
                <a:spcPts val="1300"/>
              </a:spcAft>
              <a:buClr>
                <a:srgbClr val="075A8C"/>
              </a:buClr>
              <a:buSzPct val="80000"/>
              <a:buFont typeface="Arial" pitchFamily="34" charset="0"/>
              <a:buChar char="▪"/>
            </a:pPr>
            <a:r>
              <a:rPr sz="1050" b="0">
                <a:solidFill>
                  <a:srgbClr val="475569"/>
                </a:solidFill>
                <a:latin typeface="Segoe UI"/>
              </a:rPr>
              <a:t>Strict CORS allow-list</a:t>
            </a:r>
          </a:p>
          <a:p>
            <a:pPr marL="155448" indent="-155448">
              <a:lnSpc>
                <a:spcPct val="122000"/>
              </a:lnSpc>
              <a:spcAft>
                <a:spcPts val="1300"/>
              </a:spcAft>
              <a:buClr>
                <a:srgbClr val="075A8C"/>
              </a:buClr>
              <a:buSzPct val="80000"/>
              <a:buFont typeface="Arial" pitchFamily="34" charset="0"/>
              <a:buChar char="▪"/>
            </a:pPr>
            <a:r>
              <a:rPr sz="1050" b="0">
                <a:solidFill>
                  <a:srgbClr val="475569"/>
                </a:solidFill>
                <a:latin typeface="Segoe UI"/>
              </a:rPr>
              <a:t>Rate limiting per IP and per user</a:t>
            </a:r>
          </a:p>
          <a:p>
            <a:pPr marL="155448" indent="-155448">
              <a:lnSpc>
                <a:spcPct val="122000"/>
              </a:lnSpc>
              <a:spcAft>
                <a:spcPts val="1300"/>
              </a:spcAft>
              <a:buClr>
                <a:srgbClr val="075A8C"/>
              </a:buClr>
              <a:buSzPct val="80000"/>
              <a:buFont typeface="Arial" pitchFamily="34" charset="0"/>
              <a:buChar char="▪"/>
            </a:pPr>
            <a:r>
              <a:rPr sz="1050" b="0">
                <a:solidFill>
                  <a:srgbClr val="475569"/>
                </a:solidFill>
                <a:latin typeface="Segoe UI"/>
              </a:rPr>
              <a:t>Schema validation before any handler</a:t>
            </a:r>
          </a:p>
        </p:txBody>
      </p:sp>
      <p:sp>
        <p:nvSpPr>
          <p:cNvPr id="14" name="Rounded Rectangle 13"/>
          <p:cNvSpPr/>
          <p:nvPr/>
        </p:nvSpPr>
        <p:spPr>
          <a:xfrm>
            <a:off x="6199632" y="1389888"/>
            <a:ext cx="2587752" cy="402336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Rounded Rectangle 14"/>
          <p:cNvSpPr/>
          <p:nvPr/>
        </p:nvSpPr>
        <p:spPr>
          <a:xfrm>
            <a:off x="6199632" y="1389888"/>
            <a:ext cx="2587752" cy="420624"/>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50" b="1">
                <a:solidFill>
                  <a:srgbClr val="92400E"/>
                </a:solidFill>
                <a:latin typeface="Segoe UI"/>
              </a:rPr>
              <a:t>DATA</a:t>
            </a:r>
          </a:p>
        </p:txBody>
      </p:sp>
      <p:sp>
        <p:nvSpPr>
          <p:cNvPr id="16" name="TextBox 15"/>
          <p:cNvSpPr txBox="1"/>
          <p:nvPr/>
        </p:nvSpPr>
        <p:spPr>
          <a:xfrm>
            <a:off x="6400800" y="1975104"/>
            <a:ext cx="2212848" cy="3291840"/>
          </a:xfrm>
          <a:prstGeom prst="rect">
            <a:avLst/>
          </a:prstGeom>
          <a:noFill/>
        </p:spPr>
        <p:txBody>
          <a:bodyPr wrap="square" anchor="t" lIns="0" rIns="0" tIns="0" bIns="0">
            <a:spAutoFit/>
          </a:bodyPr>
          <a:lstStyle/>
          <a:p>
            <a:pPr marL="155448" indent="-155448">
              <a:lnSpc>
                <a:spcPct val="122000"/>
              </a:lnSpc>
              <a:spcAft>
                <a:spcPts val="1300"/>
              </a:spcAft>
              <a:buClr>
                <a:srgbClr val="92400E"/>
              </a:buClr>
              <a:buSzPct val="80000"/>
              <a:buFont typeface="Arial" pitchFamily="34" charset="0"/>
              <a:buChar char="▪"/>
            </a:pPr>
            <a:r>
              <a:rPr sz="1050" b="0">
                <a:solidFill>
                  <a:srgbClr val="475569"/>
                </a:solidFill>
                <a:latin typeface="Segoe UI"/>
              </a:rPr>
              <a:t>Encryption at rest on the managed DB</a:t>
            </a:r>
          </a:p>
          <a:p>
            <a:pPr marL="155448" indent="-155448">
              <a:lnSpc>
                <a:spcPct val="122000"/>
              </a:lnSpc>
              <a:spcAft>
                <a:spcPts val="1300"/>
              </a:spcAft>
              <a:buClr>
                <a:srgbClr val="92400E"/>
              </a:buClr>
              <a:buSzPct val="80000"/>
              <a:buFont typeface="Arial" pitchFamily="34" charset="0"/>
              <a:buChar char="▪"/>
            </a:pPr>
            <a:r>
              <a:rPr sz="1050" b="0">
                <a:solidFill>
                  <a:srgbClr val="475569"/>
                </a:solidFill>
                <a:latin typeface="Segoe UI"/>
              </a:rPr>
              <a:t>Signed, expiring URLs for report files</a:t>
            </a:r>
          </a:p>
          <a:p>
            <a:pPr marL="155448" indent="-155448">
              <a:lnSpc>
                <a:spcPct val="122000"/>
              </a:lnSpc>
              <a:spcAft>
                <a:spcPts val="1300"/>
              </a:spcAft>
              <a:buClr>
                <a:srgbClr val="92400E"/>
              </a:buClr>
              <a:buSzPct val="80000"/>
              <a:buFont typeface="Arial" pitchFamily="34" charset="0"/>
              <a:buChar char="▪"/>
            </a:pPr>
            <a:r>
              <a:rPr sz="1050" b="0">
                <a:solidFill>
                  <a:srgbClr val="475569"/>
                </a:solidFill>
                <a:latin typeface="Segoe UI"/>
              </a:rPr>
              <a:t>Secrets in environment variables only</a:t>
            </a:r>
          </a:p>
          <a:p>
            <a:pPr marL="155448" indent="-155448">
              <a:lnSpc>
                <a:spcPct val="122000"/>
              </a:lnSpc>
              <a:spcAft>
                <a:spcPts val="1300"/>
              </a:spcAft>
              <a:buClr>
                <a:srgbClr val="92400E"/>
              </a:buClr>
              <a:buSzPct val="80000"/>
              <a:buFont typeface="Arial" pitchFamily="34" charset="0"/>
              <a:buChar char="▪"/>
            </a:pPr>
            <a:r>
              <a:rPr sz="1050" b="0">
                <a:solidFill>
                  <a:srgbClr val="475569"/>
                </a:solidFill>
                <a:latin typeface="Segoe UI"/>
              </a:rPr>
              <a:t>Append-only audit log of all access</a:t>
            </a:r>
          </a:p>
          <a:p>
            <a:pPr marL="155448" indent="-155448">
              <a:lnSpc>
                <a:spcPct val="122000"/>
              </a:lnSpc>
              <a:spcAft>
                <a:spcPts val="1300"/>
              </a:spcAft>
              <a:buClr>
                <a:srgbClr val="92400E"/>
              </a:buClr>
              <a:buSzPct val="80000"/>
              <a:buFont typeface="Arial" pitchFamily="34" charset="0"/>
              <a:buChar char="▪"/>
            </a:pPr>
            <a:r>
              <a:rPr sz="1050" b="0">
                <a:solidFill>
                  <a:srgbClr val="475569"/>
                </a:solidFill>
                <a:latin typeface="Segoe UI"/>
              </a:rPr>
              <a:t>Right to delete: full account purge</a:t>
            </a:r>
          </a:p>
        </p:txBody>
      </p:sp>
      <p:sp>
        <p:nvSpPr>
          <p:cNvPr id="17" name="Rounded Rectangle 16"/>
          <p:cNvSpPr/>
          <p:nvPr/>
        </p:nvSpPr>
        <p:spPr>
          <a:xfrm>
            <a:off x="9015984" y="1389888"/>
            <a:ext cx="2587752" cy="402336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Rounded Rectangle 17"/>
          <p:cNvSpPr/>
          <p:nvPr/>
        </p:nvSpPr>
        <p:spPr>
          <a:xfrm>
            <a:off x="9015984" y="1389888"/>
            <a:ext cx="2587752" cy="4206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50" b="1">
                <a:solidFill>
                  <a:srgbClr val="4338CA"/>
                </a:solidFill>
                <a:latin typeface="Segoe UI"/>
              </a:rPr>
              <a:t>AI BOUNDARY</a:t>
            </a:r>
          </a:p>
        </p:txBody>
      </p:sp>
      <p:sp>
        <p:nvSpPr>
          <p:cNvPr id="19" name="TextBox 18"/>
          <p:cNvSpPr txBox="1"/>
          <p:nvPr/>
        </p:nvSpPr>
        <p:spPr>
          <a:xfrm>
            <a:off x="9217152" y="1975104"/>
            <a:ext cx="2212848" cy="3291840"/>
          </a:xfrm>
          <a:prstGeom prst="rect">
            <a:avLst/>
          </a:prstGeom>
          <a:noFill/>
        </p:spPr>
        <p:txBody>
          <a:bodyPr wrap="square" anchor="t" lIns="0" rIns="0" tIns="0" bIns="0">
            <a:spAutoFit/>
          </a:bodyPr>
          <a:lstStyle/>
          <a:p>
            <a:pPr marL="155448" indent="-155448">
              <a:lnSpc>
                <a:spcPct val="122000"/>
              </a:lnSpc>
              <a:spcAft>
                <a:spcPts val="1300"/>
              </a:spcAft>
              <a:buClr>
                <a:srgbClr val="4338CA"/>
              </a:buClr>
              <a:buSzPct val="80000"/>
              <a:buFont typeface="Arial" pitchFamily="34" charset="0"/>
              <a:buChar char="▪"/>
            </a:pPr>
            <a:r>
              <a:rPr sz="1050" b="0">
                <a:solidFill>
                  <a:srgbClr val="475569"/>
                </a:solidFill>
                <a:latin typeface="Segoe UI"/>
              </a:rPr>
              <a:t>PII redacted before every provider call</a:t>
            </a:r>
          </a:p>
          <a:p>
            <a:pPr marL="155448" indent="-155448">
              <a:lnSpc>
                <a:spcPct val="122000"/>
              </a:lnSpc>
              <a:spcAft>
                <a:spcPts val="1300"/>
              </a:spcAft>
              <a:buClr>
                <a:srgbClr val="4338CA"/>
              </a:buClr>
              <a:buSzPct val="80000"/>
              <a:buFont typeface="Arial" pitchFamily="34" charset="0"/>
              <a:buChar char="▪"/>
            </a:pPr>
            <a:r>
              <a:rPr sz="1050" b="0">
                <a:solidFill>
                  <a:srgbClr val="475569"/>
                </a:solidFill>
                <a:latin typeface="Segoe UI"/>
              </a:rPr>
              <a:t>No raw report images sent to the AI</a:t>
            </a:r>
          </a:p>
          <a:p>
            <a:pPr marL="155448" indent="-155448">
              <a:lnSpc>
                <a:spcPct val="122000"/>
              </a:lnSpc>
              <a:spcAft>
                <a:spcPts val="1300"/>
              </a:spcAft>
              <a:buClr>
                <a:srgbClr val="4338CA"/>
              </a:buClr>
              <a:buSzPct val="80000"/>
              <a:buFont typeface="Arial" pitchFamily="34" charset="0"/>
              <a:buChar char="▪"/>
            </a:pPr>
            <a:r>
              <a:rPr sz="1050" b="0">
                <a:solidFill>
                  <a:srgbClr val="475569"/>
                </a:solidFill>
                <a:latin typeface="Segoe UI"/>
              </a:rPr>
              <a:t>Prompt-injection filtering on user text</a:t>
            </a:r>
          </a:p>
          <a:p>
            <a:pPr marL="155448" indent="-155448">
              <a:lnSpc>
                <a:spcPct val="122000"/>
              </a:lnSpc>
              <a:spcAft>
                <a:spcPts val="1300"/>
              </a:spcAft>
              <a:buClr>
                <a:srgbClr val="4338CA"/>
              </a:buClr>
              <a:buSzPct val="80000"/>
              <a:buFont typeface="Arial" pitchFamily="34" charset="0"/>
              <a:buChar char="▪"/>
            </a:pPr>
            <a:r>
              <a:rPr sz="1050" b="0">
                <a:solidFill>
                  <a:srgbClr val="475569"/>
                </a:solidFill>
                <a:latin typeface="Segoe UI"/>
              </a:rPr>
              <a:t>Output validated against a schema</a:t>
            </a:r>
          </a:p>
          <a:p>
            <a:pPr marL="155448" indent="-155448">
              <a:lnSpc>
                <a:spcPct val="122000"/>
              </a:lnSpc>
              <a:spcAft>
                <a:spcPts val="1300"/>
              </a:spcAft>
              <a:buClr>
                <a:srgbClr val="4338CA"/>
              </a:buClr>
              <a:buSzPct val="80000"/>
              <a:buFont typeface="Arial" pitchFamily="34" charset="0"/>
              <a:buChar char="▪"/>
            </a:pPr>
            <a:r>
              <a:rPr sz="1050" b="0">
                <a:solidFill>
                  <a:srgbClr val="475569"/>
                </a:solidFill>
                <a:latin typeface="Segoe UI"/>
              </a:rPr>
              <a:t>Provider traffic logged for audit</a:t>
            </a:r>
          </a:p>
        </p:txBody>
      </p:sp>
      <p:sp>
        <p:nvSpPr>
          <p:cNvPr id="20" name="Rounded Rectangle 19"/>
          <p:cNvSpPr/>
          <p:nvPr/>
        </p:nvSpPr>
        <p:spPr>
          <a:xfrm>
            <a:off x="566928" y="5614416"/>
            <a:ext cx="11064240" cy="457200"/>
          </a:xfrm>
          <a:prstGeom prst="roundRect">
            <a:avLst>
              <a:gd name="adj" fmla="val 10000"/>
            </a:avLst>
          </a:prstGeom>
          <a:solidFill>
            <a:srgbClr val="FFF7ED"/>
          </a:solidFill>
          <a:ln w="12700">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50" b="0">
                <a:solidFill>
                  <a:srgbClr val="B45309"/>
                </a:solidFill>
                <a:latin typeface="Segoe UI"/>
              </a:rPr>
              <a:t>⚠   Design principle: the AI provider is treated as an untrusted external party. Identifiable data never crosses that boundary.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PHYSICAL VIEW</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Deployment View</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17</a:t>
            </a:r>
          </a:p>
        </p:txBody>
      </p:sp>
      <p:sp>
        <p:nvSpPr>
          <p:cNvPr id="8" name="Rounded Rectangle 7"/>
          <p:cNvSpPr/>
          <p:nvPr/>
        </p:nvSpPr>
        <p:spPr>
          <a:xfrm>
            <a:off x="566928" y="1600200"/>
            <a:ext cx="2697480" cy="2926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ounded Rectangle 8"/>
          <p:cNvSpPr/>
          <p:nvPr/>
        </p:nvSpPr>
        <p:spPr>
          <a:xfrm>
            <a:off x="566928" y="1600200"/>
            <a:ext cx="2697480" cy="438912"/>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075A8C"/>
                </a:solidFill>
                <a:latin typeface="Segoe UI"/>
              </a:rPr>
              <a:t>CLIENT TIER</a:t>
            </a:r>
          </a:p>
        </p:txBody>
      </p:sp>
      <p:sp>
        <p:nvSpPr>
          <p:cNvPr id="10" name="TextBox 9"/>
          <p:cNvSpPr txBox="1"/>
          <p:nvPr/>
        </p:nvSpPr>
        <p:spPr>
          <a:xfrm>
            <a:off x="768096" y="2212848"/>
            <a:ext cx="2295144" cy="2194560"/>
          </a:xfrm>
          <a:prstGeom prst="rect">
            <a:avLst/>
          </a:prstGeom>
          <a:noFill/>
        </p:spPr>
        <p:txBody>
          <a:bodyPr wrap="square" anchor="t" lIns="0" rIns="0" tIns="0" bIns="0">
            <a:spAutoFit/>
          </a:bodyPr>
          <a:lstStyle/>
          <a:p>
            <a:pPr marL="155448" indent="-155448">
              <a:lnSpc>
                <a:spcPct val="122000"/>
              </a:lnSpc>
              <a:spcAft>
                <a:spcPts val="1400"/>
              </a:spcAft>
              <a:buClr>
                <a:srgbClr val="075A8C"/>
              </a:buClr>
              <a:buSzPct val="80000"/>
              <a:buFont typeface="Arial" pitchFamily="34" charset="0"/>
              <a:buChar char="▪"/>
            </a:pPr>
            <a:r>
              <a:rPr sz="1050" b="0">
                <a:solidFill>
                  <a:srgbClr val="475569"/>
                </a:solidFill>
                <a:latin typeface="Segoe UI"/>
              </a:rPr>
              <a:t>Browser / mobile web</a:t>
            </a:r>
          </a:p>
          <a:p>
            <a:pPr marL="155448" indent="-155448">
              <a:lnSpc>
                <a:spcPct val="122000"/>
              </a:lnSpc>
              <a:spcAft>
                <a:spcPts val="1400"/>
              </a:spcAft>
              <a:buClr>
                <a:srgbClr val="075A8C"/>
              </a:buClr>
              <a:buSzPct val="80000"/>
              <a:buFont typeface="Arial" pitchFamily="34" charset="0"/>
              <a:buChar char="▪"/>
            </a:pPr>
            <a:r>
              <a:rPr sz="1050" b="0">
                <a:solidFill>
                  <a:srgbClr val="475569"/>
                </a:solidFill>
                <a:latin typeface="Segoe UI"/>
              </a:rPr>
              <a:t>React SPA on Vercel</a:t>
            </a:r>
          </a:p>
          <a:p>
            <a:pPr marL="155448" indent="-155448">
              <a:lnSpc>
                <a:spcPct val="122000"/>
              </a:lnSpc>
              <a:spcAft>
                <a:spcPts val="1400"/>
              </a:spcAft>
              <a:buClr>
                <a:srgbClr val="075A8C"/>
              </a:buClr>
              <a:buSzPct val="80000"/>
              <a:buFont typeface="Arial" pitchFamily="34" charset="0"/>
              <a:buChar char="▪"/>
            </a:pPr>
            <a:r>
              <a:rPr sz="1050" b="0">
                <a:solidFill>
                  <a:srgbClr val="475569"/>
                </a:solidFill>
                <a:latin typeface="Segoe UI"/>
              </a:rPr>
              <a:t>Global CDN + HTTPS</a:t>
            </a:r>
          </a:p>
        </p:txBody>
      </p:sp>
      <p:sp>
        <p:nvSpPr>
          <p:cNvPr id="11" name="Right Arrow 10"/>
          <p:cNvSpPr/>
          <p:nvPr/>
        </p:nvSpPr>
        <p:spPr>
          <a:xfrm>
            <a:off x="3305556" y="2971800"/>
            <a:ext cx="164592" cy="182880"/>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6400" y="4608576"/>
            <a:ext cx="1280160" cy="256032"/>
          </a:xfrm>
          <a:prstGeom prst="rect">
            <a:avLst/>
          </a:prstGeom>
          <a:noFill/>
        </p:spPr>
        <p:txBody>
          <a:bodyPr wrap="square" anchor="t" lIns="0" rIns="0" tIns="0" bIns="0">
            <a:spAutoFit/>
          </a:bodyPr>
          <a:lstStyle/>
          <a:p>
            <a:pPr algn="ctr">
              <a:lnSpc>
                <a:spcPct val="125000"/>
              </a:lnSpc>
              <a:spcBef>
                <a:spcPts val="0"/>
              </a:spcBef>
              <a:spcAft>
                <a:spcPts val="0"/>
              </a:spcAft>
            </a:pPr>
            <a:r>
              <a:rPr sz="850" b="0" i="0">
                <a:solidFill>
                  <a:srgbClr val="94A3B8"/>
                </a:solidFill>
                <a:latin typeface="Segoe UI"/>
              </a:rPr>
              <a:t>HTTPS / REST</a:t>
            </a:r>
          </a:p>
        </p:txBody>
      </p:sp>
      <p:sp>
        <p:nvSpPr>
          <p:cNvPr id="13" name="Rounded Rectangle 12"/>
          <p:cNvSpPr/>
          <p:nvPr/>
        </p:nvSpPr>
        <p:spPr>
          <a:xfrm>
            <a:off x="3508552" y="1600200"/>
            <a:ext cx="2697480" cy="2926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Rounded Rectangle 13"/>
          <p:cNvSpPr/>
          <p:nvPr/>
        </p:nvSpPr>
        <p:spPr>
          <a:xfrm>
            <a:off x="3508552" y="1600200"/>
            <a:ext cx="2697480" cy="438912"/>
          </a:xfrm>
          <a:prstGeom prst="roundRect">
            <a:avLst>
              <a:gd name="adj" fmla="val 12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0F766E"/>
                </a:solidFill>
                <a:latin typeface="Segoe UI"/>
              </a:rPr>
              <a:t>APPLICATION TIER</a:t>
            </a:r>
          </a:p>
        </p:txBody>
      </p:sp>
      <p:sp>
        <p:nvSpPr>
          <p:cNvPr id="15" name="TextBox 14"/>
          <p:cNvSpPr txBox="1"/>
          <p:nvPr/>
        </p:nvSpPr>
        <p:spPr>
          <a:xfrm>
            <a:off x="3709720" y="2212848"/>
            <a:ext cx="2295144" cy="2194560"/>
          </a:xfrm>
          <a:prstGeom prst="rect">
            <a:avLst/>
          </a:prstGeom>
          <a:noFill/>
        </p:spPr>
        <p:txBody>
          <a:bodyPr wrap="square" anchor="t" lIns="0" rIns="0" tIns="0" bIns="0">
            <a:spAutoFit/>
          </a:bodyPr>
          <a:lstStyle/>
          <a:p>
            <a:pPr marL="155448" indent="-155448">
              <a:lnSpc>
                <a:spcPct val="122000"/>
              </a:lnSpc>
              <a:spcAft>
                <a:spcPts val="1400"/>
              </a:spcAft>
              <a:buClr>
                <a:srgbClr val="0F766E"/>
              </a:buClr>
              <a:buSzPct val="80000"/>
              <a:buFont typeface="Arial" pitchFamily="34" charset="0"/>
              <a:buChar char="▪"/>
            </a:pPr>
            <a:r>
              <a:rPr sz="1050" b="0">
                <a:solidFill>
                  <a:srgbClr val="475569"/>
                </a:solidFill>
                <a:latin typeface="Segoe UI"/>
              </a:rPr>
              <a:t>Node + Express (Render)</a:t>
            </a:r>
          </a:p>
          <a:p>
            <a:pPr marL="155448" indent="-155448">
              <a:lnSpc>
                <a:spcPct val="122000"/>
              </a:lnSpc>
              <a:spcAft>
                <a:spcPts val="1400"/>
              </a:spcAft>
              <a:buClr>
                <a:srgbClr val="0F766E"/>
              </a:buClr>
              <a:buSzPct val="80000"/>
              <a:buFont typeface="Arial" pitchFamily="34" charset="0"/>
              <a:buChar char="▪"/>
            </a:pPr>
            <a:r>
              <a:rPr sz="1050" b="0">
                <a:solidFill>
                  <a:srgbClr val="475569"/>
                </a:solidFill>
                <a:latin typeface="Segoe UI"/>
              </a:rPr>
              <a:t>Stateless — N instances</a:t>
            </a:r>
          </a:p>
          <a:p>
            <a:pPr marL="155448" indent="-155448">
              <a:lnSpc>
                <a:spcPct val="122000"/>
              </a:lnSpc>
              <a:spcAft>
                <a:spcPts val="1400"/>
              </a:spcAft>
              <a:buClr>
                <a:srgbClr val="0F766E"/>
              </a:buClr>
              <a:buSzPct val="80000"/>
              <a:buFont typeface="Arial" pitchFamily="34" charset="0"/>
              <a:buChar char="▪"/>
            </a:pPr>
            <a:r>
              <a:rPr sz="1050" b="0">
                <a:solidFill>
                  <a:srgbClr val="475569"/>
                </a:solidFill>
                <a:latin typeface="Segoe UI"/>
              </a:rPr>
              <a:t>Load balancer, auto-scale</a:t>
            </a:r>
          </a:p>
          <a:p>
            <a:pPr marL="155448" indent="-155448">
              <a:lnSpc>
                <a:spcPct val="122000"/>
              </a:lnSpc>
              <a:spcAft>
                <a:spcPts val="1400"/>
              </a:spcAft>
              <a:buClr>
                <a:srgbClr val="0F766E"/>
              </a:buClr>
              <a:buSzPct val="80000"/>
              <a:buFont typeface="Arial" pitchFamily="34" charset="0"/>
              <a:buChar char="▪"/>
            </a:pPr>
            <a:r>
              <a:rPr sz="1050" b="0">
                <a:solidFill>
                  <a:srgbClr val="475569"/>
                </a:solidFill>
                <a:latin typeface="Segoe UI"/>
              </a:rPr>
              <a:t>Worker: OCR + cron jobs</a:t>
            </a:r>
          </a:p>
        </p:txBody>
      </p:sp>
      <p:sp>
        <p:nvSpPr>
          <p:cNvPr id="16" name="Right Arrow 15"/>
          <p:cNvSpPr/>
          <p:nvPr/>
        </p:nvSpPr>
        <p:spPr>
          <a:xfrm>
            <a:off x="6247180" y="2971800"/>
            <a:ext cx="164592" cy="182880"/>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88025" y="4608576"/>
            <a:ext cx="1280160" cy="256032"/>
          </a:xfrm>
          <a:prstGeom prst="rect">
            <a:avLst/>
          </a:prstGeom>
          <a:noFill/>
        </p:spPr>
        <p:txBody>
          <a:bodyPr wrap="square" anchor="t" lIns="0" rIns="0" tIns="0" bIns="0">
            <a:spAutoFit/>
          </a:bodyPr>
          <a:lstStyle/>
          <a:p>
            <a:pPr algn="ctr">
              <a:lnSpc>
                <a:spcPct val="125000"/>
              </a:lnSpc>
              <a:spcBef>
                <a:spcPts val="0"/>
              </a:spcBef>
              <a:spcAft>
                <a:spcPts val="0"/>
              </a:spcAft>
            </a:pPr>
            <a:r>
              <a:rPr sz="850" b="0" i="0">
                <a:solidFill>
                  <a:srgbClr val="94A3B8"/>
                </a:solidFill>
                <a:latin typeface="Segoe UI"/>
              </a:rPr>
              <a:t>TLS / driver</a:t>
            </a:r>
          </a:p>
        </p:txBody>
      </p:sp>
      <p:sp>
        <p:nvSpPr>
          <p:cNvPr id="18" name="Rounded Rectangle 17"/>
          <p:cNvSpPr/>
          <p:nvPr/>
        </p:nvSpPr>
        <p:spPr>
          <a:xfrm>
            <a:off x="6450177" y="1600200"/>
            <a:ext cx="2697480" cy="2926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Rounded Rectangle 18"/>
          <p:cNvSpPr/>
          <p:nvPr/>
        </p:nvSpPr>
        <p:spPr>
          <a:xfrm>
            <a:off x="6450177" y="1600200"/>
            <a:ext cx="2697480" cy="438912"/>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92400E"/>
                </a:solidFill>
                <a:latin typeface="Segoe UI"/>
              </a:rPr>
              <a:t>DATA TIER</a:t>
            </a:r>
          </a:p>
        </p:txBody>
      </p:sp>
      <p:sp>
        <p:nvSpPr>
          <p:cNvPr id="20" name="TextBox 19"/>
          <p:cNvSpPr txBox="1"/>
          <p:nvPr/>
        </p:nvSpPr>
        <p:spPr>
          <a:xfrm>
            <a:off x="6651345" y="2212848"/>
            <a:ext cx="2295144" cy="2194560"/>
          </a:xfrm>
          <a:prstGeom prst="rect">
            <a:avLst/>
          </a:prstGeom>
          <a:noFill/>
        </p:spPr>
        <p:txBody>
          <a:bodyPr wrap="square" anchor="t" lIns="0" rIns="0" tIns="0" bIns="0">
            <a:spAutoFit/>
          </a:bodyPr>
          <a:lstStyle/>
          <a:p>
            <a:pPr marL="155448" indent="-155448">
              <a:lnSpc>
                <a:spcPct val="122000"/>
              </a:lnSpc>
              <a:spcAft>
                <a:spcPts val="1400"/>
              </a:spcAft>
              <a:buClr>
                <a:srgbClr val="92400E"/>
              </a:buClr>
              <a:buSzPct val="80000"/>
              <a:buFont typeface="Arial" pitchFamily="34" charset="0"/>
              <a:buChar char="▪"/>
            </a:pPr>
            <a:r>
              <a:rPr sz="1050" b="0">
                <a:solidFill>
                  <a:srgbClr val="475569"/>
                </a:solidFill>
                <a:latin typeface="Segoe UI"/>
              </a:rPr>
              <a:t>MongoDB Atlas (managed)</a:t>
            </a:r>
          </a:p>
          <a:p>
            <a:pPr marL="155448" indent="-155448">
              <a:lnSpc>
                <a:spcPct val="122000"/>
              </a:lnSpc>
              <a:spcAft>
                <a:spcPts val="1400"/>
              </a:spcAft>
              <a:buClr>
                <a:srgbClr val="92400E"/>
              </a:buClr>
              <a:buSzPct val="80000"/>
              <a:buFont typeface="Arial" pitchFamily="34" charset="0"/>
              <a:buChar char="▪"/>
            </a:pPr>
            <a:r>
              <a:rPr sz="1050" b="0">
                <a:solidFill>
                  <a:srgbClr val="475569"/>
                </a:solidFill>
                <a:latin typeface="Segoe UI"/>
              </a:rPr>
              <a:t>Redis — cache + queue</a:t>
            </a:r>
          </a:p>
          <a:p>
            <a:pPr marL="155448" indent="-155448">
              <a:lnSpc>
                <a:spcPct val="122000"/>
              </a:lnSpc>
              <a:spcAft>
                <a:spcPts val="1400"/>
              </a:spcAft>
              <a:buClr>
                <a:srgbClr val="92400E"/>
              </a:buClr>
              <a:buSzPct val="80000"/>
              <a:buFont typeface="Arial" pitchFamily="34" charset="0"/>
              <a:buChar char="▪"/>
            </a:pPr>
            <a:r>
              <a:rPr sz="1050" b="0">
                <a:solidFill>
                  <a:srgbClr val="475569"/>
                </a:solidFill>
                <a:latin typeface="Segoe UI"/>
              </a:rPr>
              <a:t>Object storage — reports</a:t>
            </a:r>
          </a:p>
        </p:txBody>
      </p:sp>
      <p:sp>
        <p:nvSpPr>
          <p:cNvPr id="21" name="Right Arrow 20"/>
          <p:cNvSpPr/>
          <p:nvPr/>
        </p:nvSpPr>
        <p:spPr>
          <a:xfrm>
            <a:off x="9188805" y="2971800"/>
            <a:ext cx="164592" cy="182880"/>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629650" y="4608576"/>
            <a:ext cx="1280160" cy="256032"/>
          </a:xfrm>
          <a:prstGeom prst="rect">
            <a:avLst/>
          </a:prstGeom>
          <a:noFill/>
        </p:spPr>
        <p:txBody>
          <a:bodyPr wrap="square" anchor="t" lIns="0" rIns="0" tIns="0" bIns="0">
            <a:spAutoFit/>
          </a:bodyPr>
          <a:lstStyle/>
          <a:p>
            <a:pPr algn="ctr">
              <a:lnSpc>
                <a:spcPct val="125000"/>
              </a:lnSpc>
              <a:spcBef>
                <a:spcPts val="0"/>
              </a:spcBef>
              <a:spcAft>
                <a:spcPts val="0"/>
              </a:spcAft>
            </a:pPr>
            <a:r>
              <a:rPr sz="850" b="0" i="0">
                <a:solidFill>
                  <a:srgbClr val="94A3B8"/>
                </a:solidFill>
                <a:latin typeface="Segoe UI"/>
              </a:rPr>
              <a:t>HTTPS / SDK</a:t>
            </a:r>
          </a:p>
        </p:txBody>
      </p:sp>
      <p:sp>
        <p:nvSpPr>
          <p:cNvPr id="23" name="Rounded Rectangle 22"/>
          <p:cNvSpPr/>
          <p:nvPr/>
        </p:nvSpPr>
        <p:spPr>
          <a:xfrm>
            <a:off x="9391802" y="1600200"/>
            <a:ext cx="2240280" cy="2926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Rounded Rectangle 23"/>
          <p:cNvSpPr/>
          <p:nvPr/>
        </p:nvSpPr>
        <p:spPr>
          <a:xfrm>
            <a:off x="9391802" y="1600200"/>
            <a:ext cx="2240280" cy="438912"/>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1">
                <a:solidFill>
                  <a:srgbClr val="4338CA"/>
                </a:solidFill>
                <a:latin typeface="Segoe UI"/>
              </a:rPr>
              <a:t>EXTERNAL</a:t>
            </a:r>
          </a:p>
        </p:txBody>
      </p:sp>
      <p:sp>
        <p:nvSpPr>
          <p:cNvPr id="25" name="TextBox 24"/>
          <p:cNvSpPr txBox="1"/>
          <p:nvPr/>
        </p:nvSpPr>
        <p:spPr>
          <a:xfrm>
            <a:off x="9592970" y="2212848"/>
            <a:ext cx="1837944" cy="2194560"/>
          </a:xfrm>
          <a:prstGeom prst="rect">
            <a:avLst/>
          </a:prstGeom>
          <a:noFill/>
        </p:spPr>
        <p:txBody>
          <a:bodyPr wrap="square" anchor="t" lIns="0" rIns="0" tIns="0" bIns="0">
            <a:spAutoFit/>
          </a:bodyPr>
          <a:lstStyle/>
          <a:p>
            <a:pPr marL="155448" indent="-155448">
              <a:lnSpc>
                <a:spcPct val="122000"/>
              </a:lnSpc>
              <a:spcAft>
                <a:spcPts val="1400"/>
              </a:spcAft>
              <a:buClr>
                <a:srgbClr val="4338CA"/>
              </a:buClr>
              <a:buSzPct val="80000"/>
              <a:buFont typeface="Arial" pitchFamily="34" charset="0"/>
              <a:buChar char="▪"/>
            </a:pPr>
            <a:r>
              <a:rPr sz="1050" b="0">
                <a:solidFill>
                  <a:srgbClr val="475569"/>
                </a:solidFill>
                <a:latin typeface="Segoe UI"/>
              </a:rPr>
              <a:t>Gemini API (primary)</a:t>
            </a:r>
          </a:p>
          <a:p>
            <a:pPr marL="155448" indent="-155448">
              <a:lnSpc>
                <a:spcPct val="122000"/>
              </a:lnSpc>
              <a:spcAft>
                <a:spcPts val="1400"/>
              </a:spcAft>
              <a:buClr>
                <a:srgbClr val="4338CA"/>
              </a:buClr>
              <a:buSzPct val="80000"/>
              <a:buFont typeface="Arial" pitchFamily="34" charset="0"/>
              <a:buChar char="▪"/>
            </a:pPr>
            <a:r>
              <a:rPr sz="1050" b="0">
                <a:solidFill>
                  <a:srgbClr val="475569"/>
                </a:solidFill>
                <a:latin typeface="Segoe UI"/>
              </a:rPr>
              <a:t>OpenAI API (fallback)</a:t>
            </a:r>
          </a:p>
          <a:p>
            <a:pPr marL="155448" indent="-155448">
              <a:lnSpc>
                <a:spcPct val="122000"/>
              </a:lnSpc>
              <a:spcAft>
                <a:spcPts val="1400"/>
              </a:spcAft>
              <a:buClr>
                <a:srgbClr val="4338CA"/>
              </a:buClr>
              <a:buSzPct val="80000"/>
              <a:buFont typeface="Arial" pitchFamily="34" charset="0"/>
              <a:buChar char="▪"/>
            </a:pPr>
            <a:r>
              <a:rPr sz="1050" b="0">
                <a:solidFill>
                  <a:srgbClr val="475569"/>
                </a:solidFill>
                <a:latin typeface="Segoe UI"/>
              </a:rPr>
              <a:t>E-mail / push provider</a:t>
            </a:r>
          </a:p>
        </p:txBody>
      </p:sp>
      <p:sp>
        <p:nvSpPr>
          <p:cNvPr id="26" name="Rounded Rectangle 25"/>
          <p:cNvSpPr/>
          <p:nvPr/>
        </p:nvSpPr>
        <p:spPr>
          <a:xfrm>
            <a:off x="566928" y="5029200"/>
            <a:ext cx="11064240" cy="1097280"/>
          </a:xfrm>
          <a:prstGeom prst="roundRect">
            <a:avLst>
              <a:gd name="adj" fmla="val 10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TextBox 26"/>
          <p:cNvSpPr txBox="1"/>
          <p:nvPr/>
        </p:nvSpPr>
        <p:spPr>
          <a:xfrm>
            <a:off x="841248" y="5212080"/>
            <a:ext cx="10515600" cy="914400"/>
          </a:xfrm>
          <a:prstGeom prst="rect">
            <a:avLst/>
          </a:prstGeom>
          <a:noFill/>
        </p:spPr>
        <p:txBody>
          <a:bodyPr wrap="square" anchor="t" lIns="0" rIns="0" tIns="0" bIns="0">
            <a:spAutoFit/>
          </a:bodyPr>
          <a:lstStyle/>
          <a:p>
            <a:pPr algn="l">
              <a:lnSpc>
                <a:spcPct val="125000"/>
              </a:lnSpc>
              <a:spcBef>
                <a:spcPts val="0"/>
              </a:spcBef>
              <a:spcAft>
                <a:spcPts val="700"/>
              </a:spcAft>
            </a:pPr>
            <a:r>
              <a:rPr sz="1000" b="1" i="0">
                <a:solidFill>
                  <a:srgbClr val="0F172A"/>
                </a:solidFill>
                <a:latin typeface="Segoe UI"/>
              </a:rPr>
              <a:t>DELIVERY PIPELINE</a:t>
            </a:r>
          </a:p>
          <a:p>
            <a:pPr>
              <a:lnSpc>
                <a:spcPct val="135000"/>
              </a:lnSpc>
              <a:spcAft>
                <a:spcPts val="900"/>
              </a:spcAft>
            </a:pPr>
            <a:r>
              <a:rPr sz="1150" b="0">
                <a:solidFill>
                  <a:srgbClr val="475569"/>
                </a:solidFill>
                <a:latin typeface="Segoe UI"/>
              </a:rPr>
              <a:t>Git push  →  </a:t>
            </a:r>
            <a:r>
              <a:rPr sz="1150" b="1">
                <a:solidFill>
                  <a:srgbClr val="0F172A"/>
                </a:solidFill>
                <a:latin typeface="Segoe UI"/>
              </a:rPr>
              <a:t>automated build &amp; tests  →  </a:t>
            </a:r>
            <a:r>
              <a:rPr sz="1150" b="0">
                <a:solidFill>
                  <a:srgbClr val="475569"/>
                </a:solidFill>
                <a:latin typeface="Segoe UI"/>
              </a:rPr>
              <a:t>preview deployment per branch  →  </a:t>
            </a:r>
            <a:r>
              <a:rPr sz="1150" b="1">
                <a:solidFill>
                  <a:srgbClr val="0F172A"/>
                </a:solidFill>
                <a:latin typeface="Segoe UI"/>
              </a:rPr>
              <a:t>review  →  </a:t>
            </a:r>
            <a:r>
              <a:rPr sz="1150" b="0">
                <a:solidFill>
                  <a:srgbClr val="475569"/>
                </a:solidFill>
                <a:latin typeface="Segoe UI"/>
              </a:rPr>
              <a:t>promote to production.  </a:t>
            </a:r>
            <a:r>
              <a:rPr sz="1150" b="0">
                <a:solidFill>
                  <a:srgbClr val="475569"/>
                </a:solidFill>
                <a:latin typeface="Segoe UI"/>
              </a:rPr>
              <a:t>Environment-scoped secrets; no credentials in the repository; rollback is a one-click redeploy of the previous build.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ARCHITECTURAL RISK REGISTER</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Risks &amp; Mitigations</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18</a:t>
            </a:r>
          </a:p>
        </p:txBody>
      </p:sp>
      <p:graphicFrame>
        <p:nvGraphicFramePr>
          <p:cNvPr id="8" name="Table 7"/>
          <p:cNvGraphicFramePr>
            <a:graphicFrameLocks noGrp="1"/>
          </p:cNvGraphicFramePr>
          <p:nvPr/>
        </p:nvGraphicFramePr>
        <p:xfrm>
          <a:off x="566928" y="1371600"/>
          <a:ext cx="11064240" cy="4590288"/>
        </p:xfrm>
        <a:graphic>
          <a:graphicData uri="http://schemas.openxmlformats.org/drawingml/2006/table">
            <a:tbl>
              <a:tblPr>
                <a:tableStyleId>{5C22544A-7EE6-4342-B048-85BDC9FD1C3A}</a:tableStyleId>
              </a:tblPr>
              <a:tblGrid>
                <a:gridCol w="3200400"/>
                <a:gridCol w="1737360"/>
                <a:gridCol w="6126480"/>
              </a:tblGrid>
              <a:tr h="365760">
                <a:tc>
                  <a:txBody>
                    <a:bodyPr wrap="square"/>
                    <a:lstStyle/>
                    <a:p>
                      <a:pPr algn="l">
                        <a:lnSpc>
                          <a:spcPct val="112000"/>
                        </a:lnSpc>
                      </a:pPr>
                      <a:r>
                        <a:rPr sz="1100" b="1">
                          <a:solidFill>
                            <a:srgbClr val="FFFFFF"/>
                          </a:solidFill>
                          <a:latin typeface="Segoe UI"/>
                        </a:rPr>
                        <a:t>Risk</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Impact</a:t>
                      </a:r>
                    </a:p>
                  </a:txBody>
                  <a:tcPr marL="100584" marR="100584" marT="45720" marB="45720" anchor="ctr">
                    <a:solidFill>
                      <a:srgbClr val="0F766E"/>
                    </a:solidFill>
                  </a:tcPr>
                </a:tc>
                <a:tc>
                  <a:txBody>
                    <a:bodyPr wrap="square"/>
                    <a:lstStyle/>
                    <a:p>
                      <a:pPr algn="l">
                        <a:lnSpc>
                          <a:spcPct val="112000"/>
                        </a:lnSpc>
                      </a:pPr>
                      <a:r>
                        <a:rPr sz="1100" b="1">
                          <a:solidFill>
                            <a:srgbClr val="FFFFFF"/>
                          </a:solidFill>
                          <a:latin typeface="Segoe UI"/>
                        </a:rPr>
                        <a:t>Mitigation</a:t>
                      </a:r>
                    </a:p>
                  </a:txBody>
                  <a:tcPr marL="100584" marR="100584" marT="45720" marB="45720" anchor="ctr">
                    <a:solidFill>
                      <a:srgbClr val="0F766E"/>
                    </a:solidFill>
                  </a:tcPr>
                </a:tc>
              </a:tr>
              <a:tr h="603504">
                <a:tc>
                  <a:txBody>
                    <a:bodyPr wrap="square"/>
                    <a:lstStyle/>
                    <a:p>
                      <a:pPr algn="l">
                        <a:lnSpc>
                          <a:spcPct val="112000"/>
                        </a:lnSpc>
                      </a:pPr>
                      <a:r>
                        <a:rPr sz="1050" b="1">
                          <a:solidFill>
                            <a:srgbClr val="0F172A"/>
                          </a:solidFill>
                          <a:latin typeface="Segoe UI"/>
                        </a:rPr>
                        <a:t>AI produces an incorrect or hallucinated suggestion</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High · Safety</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Rules engine owns escalation; output schema + banned-content validation; confidence shown; mandatory disclaimer</a:t>
                      </a:r>
                    </a:p>
                  </a:txBody>
                  <a:tcPr marL="100584" marR="100584" marT="45720" marB="45720" anchor="ctr">
                    <a:solidFill>
                      <a:srgbClr val="FFFFFF"/>
                    </a:solidFill>
                  </a:tcPr>
                </a:tc>
              </a:tr>
              <a:tr h="603504">
                <a:tc>
                  <a:txBody>
                    <a:bodyPr wrap="square"/>
                    <a:lstStyle/>
                    <a:p>
                      <a:pPr algn="l">
                        <a:lnSpc>
                          <a:spcPct val="112000"/>
                        </a:lnSpc>
                      </a:pPr>
                      <a:r>
                        <a:rPr sz="1050" b="1">
                          <a:solidFill>
                            <a:srgbClr val="0F172A"/>
                          </a:solidFill>
                          <a:latin typeface="Segoe UI"/>
                        </a:rPr>
                        <a:t>User treats output as a diagnosis and skips real care</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High · Safety</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Urgency-first UI, persistent disclaimer, explicit 'see a doctor' call-to-action on every result</a:t>
                      </a:r>
                    </a:p>
                  </a:txBody>
                  <a:tcPr marL="100584" marR="100584" marT="45720" marB="45720" anchor="ctr">
                    <a:solidFill>
                      <a:srgbClr val="F1F5F9"/>
                    </a:solidFill>
                  </a:tcPr>
                </a:tc>
              </a:tr>
              <a:tr h="603504">
                <a:tc>
                  <a:txBody>
                    <a:bodyPr wrap="square"/>
                    <a:lstStyle/>
                    <a:p>
                      <a:pPr algn="l">
                        <a:lnSpc>
                          <a:spcPct val="112000"/>
                        </a:lnSpc>
                      </a:pPr>
                      <a:r>
                        <a:rPr sz="1050" b="1">
                          <a:solidFill>
                            <a:srgbClr val="0F172A"/>
                          </a:solidFill>
                          <a:latin typeface="Segoe UI"/>
                        </a:rPr>
                        <a:t>AI provider outage, rate limit or cost spike</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Medium · Availability</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Circuit breaker, secondary provider fallback, Redis response cache, per-user quotas</a:t>
                      </a:r>
                    </a:p>
                  </a:txBody>
                  <a:tcPr marL="100584" marR="100584" marT="45720" marB="45720" anchor="ctr">
                    <a:solidFill>
                      <a:srgbClr val="FFFFFF"/>
                    </a:solidFill>
                  </a:tcPr>
                </a:tc>
              </a:tr>
              <a:tr h="603504">
                <a:tc>
                  <a:txBody>
                    <a:bodyPr wrap="square"/>
                    <a:lstStyle/>
                    <a:p>
                      <a:pPr algn="l">
                        <a:lnSpc>
                          <a:spcPct val="112000"/>
                        </a:lnSpc>
                      </a:pPr>
                      <a:r>
                        <a:rPr sz="1050" b="1">
                          <a:solidFill>
                            <a:srgbClr val="0F172A"/>
                          </a:solidFill>
                          <a:latin typeface="Segoe UI"/>
                        </a:rPr>
                        <a:t>Breach or leakage of sensitive health data</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High · Privacy</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PII redaction at the boundary, encryption at rest and in transit, RBAC, audit logging, least privilege</a:t>
                      </a:r>
                    </a:p>
                  </a:txBody>
                  <a:tcPr marL="100584" marR="100584" marT="45720" marB="45720" anchor="ctr">
                    <a:solidFill>
                      <a:srgbClr val="F1F5F9"/>
                    </a:solidFill>
                  </a:tcPr>
                </a:tc>
              </a:tr>
              <a:tr h="603504">
                <a:tc>
                  <a:txBody>
                    <a:bodyPr wrap="square"/>
                    <a:lstStyle/>
                    <a:p>
                      <a:pPr algn="l">
                        <a:lnSpc>
                          <a:spcPct val="112000"/>
                        </a:lnSpc>
                      </a:pPr>
                      <a:r>
                        <a:rPr sz="1050" b="1">
                          <a:solidFill>
                            <a:srgbClr val="0F172A"/>
                          </a:solidFill>
                          <a:latin typeface="Segoe UI"/>
                        </a:rPr>
                        <a:t>Latency exceeds user patience on AI calls</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Medium · Performance</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Streamed partial responses, cached common queries, async offload of OCR, p95 budget tracked</a:t>
                      </a:r>
                    </a:p>
                  </a:txBody>
                  <a:tcPr marL="100584" marR="100584" marT="45720" marB="45720" anchor="ctr">
                    <a:solidFill>
                      <a:srgbClr val="FFFFFF"/>
                    </a:solidFill>
                  </a:tcPr>
                </a:tc>
              </a:tr>
              <a:tr h="603504">
                <a:tc>
                  <a:txBody>
                    <a:bodyPr wrap="square"/>
                    <a:lstStyle/>
                    <a:p>
                      <a:pPr algn="l">
                        <a:lnSpc>
                          <a:spcPct val="112000"/>
                        </a:lnSpc>
                      </a:pPr>
                      <a:r>
                        <a:rPr sz="1050" b="1">
                          <a:solidFill>
                            <a:srgbClr val="0F172A"/>
                          </a:solidFill>
                          <a:latin typeface="Segoe UI"/>
                        </a:rPr>
                        <a:t>Prompt injection through free-text symptom input</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Medium · Security</a:t>
                      </a:r>
                    </a:p>
                  </a:txBody>
                  <a:tcPr marL="100584" marR="100584" marT="45720" marB="45720" anchor="ctr">
                    <a:solidFill>
                      <a:srgbClr val="F1F5F9"/>
                    </a:solidFill>
                  </a:tcPr>
                </a:tc>
                <a:tc>
                  <a:txBody>
                    <a:bodyPr wrap="square"/>
                    <a:lstStyle/>
                    <a:p>
                      <a:pPr algn="l">
                        <a:lnSpc>
                          <a:spcPct val="112000"/>
                        </a:lnSpc>
                      </a:pPr>
                      <a:r>
                        <a:rPr sz="1050" b="0">
                          <a:solidFill>
                            <a:srgbClr val="475569"/>
                          </a:solidFill>
                          <a:latin typeface="Segoe UI"/>
                        </a:rPr>
                        <a:t>Structured intake over free text, input sanitisation, system-prompt isolation, output validation</a:t>
                      </a:r>
                    </a:p>
                  </a:txBody>
                  <a:tcPr marL="100584" marR="100584" marT="45720" marB="45720" anchor="ctr">
                    <a:solidFill>
                      <a:srgbClr val="F1F5F9"/>
                    </a:solidFill>
                  </a:tcPr>
                </a:tc>
              </a:tr>
              <a:tr h="603504">
                <a:tc>
                  <a:txBody>
                    <a:bodyPr wrap="square"/>
                    <a:lstStyle/>
                    <a:p>
                      <a:pPr algn="l">
                        <a:lnSpc>
                          <a:spcPct val="112000"/>
                        </a:lnSpc>
                      </a:pPr>
                      <a:r>
                        <a:rPr sz="1050" b="1">
                          <a:solidFill>
                            <a:srgbClr val="0F172A"/>
                          </a:solidFill>
                          <a:latin typeface="Segoe UI"/>
                        </a:rPr>
                        <a:t>Scope creep across six modules in one semester</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Medium · Delivery</a:t>
                      </a:r>
                    </a:p>
                  </a:txBody>
                  <a:tcPr marL="100584" marR="100584" marT="45720" marB="45720" anchor="ctr">
                    <a:solidFill>
                      <a:srgbClr val="FFFFFF"/>
                    </a:solidFill>
                  </a:tcPr>
                </a:tc>
                <a:tc>
                  <a:txBody>
                    <a:bodyPr wrap="square"/>
                    <a:lstStyle/>
                    <a:p>
                      <a:pPr algn="l">
                        <a:lnSpc>
                          <a:spcPct val="112000"/>
                        </a:lnSpc>
                      </a:pPr>
                      <a:r>
                        <a:rPr sz="1050" b="0">
                          <a:solidFill>
                            <a:srgbClr val="475569"/>
                          </a:solidFill>
                          <a:latin typeface="Segoe UI"/>
                        </a:rPr>
                        <a:t>Phased roadmap; modules 1–3 form the graded core, 4–6 follow incrementally</a:t>
                      </a:r>
                    </a:p>
                  </a:txBody>
                  <a:tcPr marL="100584" marR="100584" marT="45720" marB="45720"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EVOLUTION</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Roadmap &amp; Future Enhancements</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19</a:t>
            </a:r>
          </a:p>
        </p:txBody>
      </p:sp>
      <p:sp>
        <p:nvSpPr>
          <p:cNvPr id="8" name="Rounded Rectangle 7"/>
          <p:cNvSpPr/>
          <p:nvPr/>
        </p:nvSpPr>
        <p:spPr>
          <a:xfrm>
            <a:off x="566928" y="1463040"/>
            <a:ext cx="3520440" cy="393192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ounded Rectangle 8"/>
          <p:cNvSpPr/>
          <p:nvPr/>
        </p:nvSpPr>
        <p:spPr>
          <a:xfrm>
            <a:off x="566928" y="1463040"/>
            <a:ext cx="3520440" cy="658368"/>
          </a:xfrm>
          <a:prstGeom prst="roundRect">
            <a:avLst>
              <a:gd name="adj" fmla="val 12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73152" tIns="36576" bIns="36576"/>
          <a:lstStyle/>
          <a:p>
            <a:pPr algn="l">
              <a:lnSpc>
                <a:spcPct val="110000"/>
              </a:lnSpc>
            </a:pPr>
            <a:r>
              <a:rPr sz="1250" b="1">
                <a:solidFill>
                  <a:srgbClr val="0F766E"/>
                </a:solidFill>
                <a:latin typeface="Segoe UI"/>
              </a:rPr>
              <a:t>PHASE 1</a:t>
            </a:r>
          </a:p>
          <a:p>
            <a:pPr algn="l">
              <a:lnSpc>
                <a:spcPct val="105000"/>
              </a:lnSpc>
              <a:spcBef>
                <a:spcPts val="200"/>
              </a:spcBef>
            </a:pPr>
            <a:r>
              <a:rPr sz="950">
                <a:solidFill>
                  <a:srgbClr val="475569"/>
                </a:solidFill>
                <a:latin typeface="Segoe UI"/>
              </a:rPr>
              <a:t>This semester — committed</a:t>
            </a:r>
          </a:p>
        </p:txBody>
      </p:sp>
      <p:sp>
        <p:nvSpPr>
          <p:cNvPr id="10" name="TextBox 9"/>
          <p:cNvSpPr txBox="1"/>
          <p:nvPr/>
        </p:nvSpPr>
        <p:spPr>
          <a:xfrm>
            <a:off x="804672" y="2304288"/>
            <a:ext cx="3063240" cy="2926080"/>
          </a:xfrm>
          <a:prstGeom prst="rect">
            <a:avLst/>
          </a:prstGeom>
          <a:noFill/>
        </p:spPr>
        <p:txBody>
          <a:bodyPr wrap="square" anchor="t" lIns="0" rIns="0" tIns="0" bIns="0">
            <a:spAutoFit/>
          </a:bodyPr>
          <a:lstStyle/>
          <a:p>
            <a:pPr marL="182880" indent="-182880">
              <a:lnSpc>
                <a:spcPct val="122000"/>
              </a:lnSpc>
              <a:spcAft>
                <a:spcPts val="1500"/>
              </a:spcAft>
              <a:buClr>
                <a:srgbClr val="0F766E"/>
              </a:buClr>
              <a:buSzPct val="80000"/>
              <a:buFont typeface="Arial" pitchFamily="34" charset="0"/>
              <a:buChar char="▪"/>
            </a:pPr>
            <a:r>
              <a:rPr sz="1150" b="0">
                <a:solidFill>
                  <a:srgbClr val="475569"/>
                </a:solidFill>
                <a:latin typeface="Segoe UI"/>
              </a:rPr>
              <a:t>Authentication &amp; profile</a:t>
            </a:r>
          </a:p>
          <a:p>
            <a:pPr marL="182880" indent="-182880">
              <a:lnSpc>
                <a:spcPct val="122000"/>
              </a:lnSpc>
              <a:spcAft>
                <a:spcPts val="1500"/>
              </a:spcAft>
              <a:buClr>
                <a:srgbClr val="0F766E"/>
              </a:buClr>
              <a:buSzPct val="80000"/>
              <a:buFont typeface="Arial" pitchFamily="34" charset="0"/>
              <a:buChar char="▪"/>
            </a:pPr>
            <a:r>
              <a:rPr sz="1150" b="0">
                <a:solidFill>
                  <a:srgbClr val="475569"/>
                </a:solidFill>
                <a:latin typeface="Segoe UI"/>
              </a:rPr>
              <a:t>Symptom analysis + triage engine</a:t>
            </a:r>
          </a:p>
          <a:p>
            <a:pPr marL="182880" indent="-182880">
              <a:lnSpc>
                <a:spcPct val="122000"/>
              </a:lnSpc>
              <a:spcAft>
                <a:spcPts val="1500"/>
              </a:spcAft>
              <a:buClr>
                <a:srgbClr val="0F766E"/>
              </a:buClr>
              <a:buSzPct val="80000"/>
              <a:buFont typeface="Arial" pitchFamily="34" charset="0"/>
              <a:buChar char="▪"/>
            </a:pPr>
            <a:r>
              <a:rPr sz="1150" b="0">
                <a:solidFill>
                  <a:srgbClr val="475569"/>
                </a:solidFill>
                <a:latin typeface="Segoe UI"/>
              </a:rPr>
              <a:t>AI chatbot with session context</a:t>
            </a:r>
          </a:p>
          <a:p>
            <a:pPr marL="182880" indent="-182880">
              <a:lnSpc>
                <a:spcPct val="122000"/>
              </a:lnSpc>
              <a:spcAft>
                <a:spcPts val="1500"/>
              </a:spcAft>
              <a:buClr>
                <a:srgbClr val="0F766E"/>
              </a:buClr>
              <a:buSzPct val="80000"/>
              <a:buFont typeface="Arial" pitchFamily="34" charset="0"/>
              <a:buChar char="▪"/>
            </a:pPr>
            <a:r>
              <a:rPr sz="1150" b="0">
                <a:solidFill>
                  <a:srgbClr val="475569"/>
                </a:solidFill>
                <a:latin typeface="Segoe UI"/>
              </a:rPr>
              <a:t>Medical history timeline</a:t>
            </a:r>
          </a:p>
          <a:p>
            <a:pPr marL="182880" indent="-182880">
              <a:lnSpc>
                <a:spcPct val="122000"/>
              </a:lnSpc>
              <a:spcAft>
                <a:spcPts val="1500"/>
              </a:spcAft>
              <a:buClr>
                <a:srgbClr val="0F766E"/>
              </a:buClr>
              <a:buSzPct val="80000"/>
              <a:buFont typeface="Arial" pitchFamily="34" charset="0"/>
              <a:buChar char="▪"/>
            </a:pPr>
            <a:r>
              <a:rPr sz="1150" b="0">
                <a:solidFill>
                  <a:srgbClr val="475569"/>
                </a:solidFill>
                <a:latin typeface="Segoe UI"/>
              </a:rPr>
              <a:t>Deployed, documented, tested</a:t>
            </a:r>
          </a:p>
        </p:txBody>
      </p:sp>
      <p:sp>
        <p:nvSpPr>
          <p:cNvPr id="11" name="Rounded Rectangle 10"/>
          <p:cNvSpPr/>
          <p:nvPr/>
        </p:nvSpPr>
        <p:spPr>
          <a:xfrm>
            <a:off x="4315968" y="1463040"/>
            <a:ext cx="3520440" cy="393192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ounded Rectangle 11"/>
          <p:cNvSpPr/>
          <p:nvPr/>
        </p:nvSpPr>
        <p:spPr>
          <a:xfrm>
            <a:off x="4315968" y="1463040"/>
            <a:ext cx="3520440" cy="658368"/>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73152" tIns="36576" bIns="36576"/>
          <a:lstStyle/>
          <a:p>
            <a:pPr algn="l">
              <a:lnSpc>
                <a:spcPct val="110000"/>
              </a:lnSpc>
            </a:pPr>
            <a:r>
              <a:rPr sz="1250" b="1">
                <a:solidFill>
                  <a:srgbClr val="4338CA"/>
                </a:solidFill>
                <a:latin typeface="Segoe UI"/>
              </a:rPr>
              <a:t>PHASE 2</a:t>
            </a:r>
          </a:p>
          <a:p>
            <a:pPr algn="l">
              <a:lnSpc>
                <a:spcPct val="105000"/>
              </a:lnSpc>
              <a:spcBef>
                <a:spcPts val="200"/>
              </a:spcBef>
            </a:pPr>
            <a:r>
              <a:rPr sz="950">
                <a:solidFill>
                  <a:srgbClr val="475569"/>
                </a:solidFill>
                <a:latin typeface="Segoe UI"/>
              </a:rPr>
              <a:t>Next iteration</a:t>
            </a:r>
          </a:p>
        </p:txBody>
      </p:sp>
      <p:sp>
        <p:nvSpPr>
          <p:cNvPr id="13" name="TextBox 12"/>
          <p:cNvSpPr txBox="1"/>
          <p:nvPr/>
        </p:nvSpPr>
        <p:spPr>
          <a:xfrm>
            <a:off x="4553712" y="2304288"/>
            <a:ext cx="3063240" cy="2926080"/>
          </a:xfrm>
          <a:prstGeom prst="rect">
            <a:avLst/>
          </a:prstGeom>
          <a:noFill/>
        </p:spPr>
        <p:txBody>
          <a:bodyPr wrap="square" anchor="t" lIns="0" rIns="0" tIns="0" bIns="0">
            <a:spAutoFit/>
          </a:bodyPr>
          <a:lstStyle/>
          <a:p>
            <a:pPr marL="182880" indent="-182880">
              <a:lnSpc>
                <a:spcPct val="122000"/>
              </a:lnSpc>
              <a:spcAft>
                <a:spcPts val="1500"/>
              </a:spcAft>
              <a:buClr>
                <a:srgbClr val="4338CA"/>
              </a:buClr>
              <a:buSzPct val="80000"/>
              <a:buFont typeface="Arial" pitchFamily="34" charset="0"/>
              <a:buChar char="▪"/>
            </a:pPr>
            <a:r>
              <a:rPr sz="1150" b="0">
                <a:solidFill>
                  <a:srgbClr val="475569"/>
                </a:solidFill>
                <a:latin typeface="Segoe UI"/>
              </a:rPr>
              <a:t>Report upload + OCR extraction</a:t>
            </a:r>
          </a:p>
          <a:p>
            <a:pPr marL="182880" indent="-182880">
              <a:lnSpc>
                <a:spcPct val="122000"/>
              </a:lnSpc>
              <a:spcAft>
                <a:spcPts val="1500"/>
              </a:spcAft>
              <a:buClr>
                <a:srgbClr val="4338CA"/>
              </a:buClr>
              <a:buSzPct val="80000"/>
              <a:buFont typeface="Arial" pitchFamily="34" charset="0"/>
              <a:buChar char="▪"/>
            </a:pPr>
            <a:r>
              <a:rPr sz="1150" b="0">
                <a:solidFill>
                  <a:srgbClr val="475569"/>
                </a:solidFill>
                <a:latin typeface="Segoe UI"/>
              </a:rPr>
              <a:t>Medicine reminders &amp; adherence</a:t>
            </a:r>
          </a:p>
          <a:p>
            <a:pPr marL="182880" indent="-182880">
              <a:lnSpc>
                <a:spcPct val="122000"/>
              </a:lnSpc>
              <a:spcAft>
                <a:spcPts val="1500"/>
              </a:spcAft>
              <a:buClr>
                <a:srgbClr val="4338CA"/>
              </a:buClr>
              <a:buSzPct val="80000"/>
              <a:buFont typeface="Arial" pitchFamily="34" charset="0"/>
              <a:buChar char="▪"/>
            </a:pPr>
            <a:r>
              <a:rPr sz="1150" b="0">
                <a:solidFill>
                  <a:srgbClr val="475569"/>
                </a:solidFill>
                <a:latin typeface="Segoe UI"/>
              </a:rPr>
              <a:t>Multilingual support (regional languages)</a:t>
            </a:r>
          </a:p>
          <a:p>
            <a:pPr marL="182880" indent="-182880">
              <a:lnSpc>
                <a:spcPct val="122000"/>
              </a:lnSpc>
              <a:spcAft>
                <a:spcPts val="1500"/>
              </a:spcAft>
              <a:buClr>
                <a:srgbClr val="4338CA"/>
              </a:buClr>
              <a:buSzPct val="80000"/>
              <a:buFont typeface="Arial" pitchFamily="34" charset="0"/>
              <a:buChar char="▪"/>
            </a:pPr>
            <a:r>
              <a:rPr sz="1150" b="0">
                <a:solidFill>
                  <a:srgbClr val="475569"/>
                </a:solidFill>
                <a:latin typeface="Segoe UI"/>
              </a:rPr>
              <a:t>Doctor appointment booking</a:t>
            </a:r>
          </a:p>
          <a:p>
            <a:pPr marL="182880" indent="-182880">
              <a:lnSpc>
                <a:spcPct val="122000"/>
              </a:lnSpc>
              <a:spcAft>
                <a:spcPts val="1500"/>
              </a:spcAft>
              <a:buClr>
                <a:srgbClr val="4338CA"/>
              </a:buClr>
              <a:buSzPct val="80000"/>
              <a:buFont typeface="Arial" pitchFamily="34" charset="0"/>
              <a:buChar char="▪"/>
            </a:pPr>
            <a:r>
              <a:rPr sz="1150" b="0">
                <a:solidFill>
                  <a:srgbClr val="475569"/>
                </a:solidFill>
                <a:latin typeface="Segoe UI"/>
              </a:rPr>
              <a:t>Nearby hospital &amp; pharmacy lookup</a:t>
            </a:r>
          </a:p>
        </p:txBody>
      </p:sp>
      <p:sp>
        <p:nvSpPr>
          <p:cNvPr id="14" name="Rounded Rectangle 13"/>
          <p:cNvSpPr/>
          <p:nvPr/>
        </p:nvSpPr>
        <p:spPr>
          <a:xfrm>
            <a:off x="8065007" y="1463040"/>
            <a:ext cx="3520440" cy="393192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Rounded Rectangle 14"/>
          <p:cNvSpPr/>
          <p:nvPr/>
        </p:nvSpPr>
        <p:spPr>
          <a:xfrm>
            <a:off x="8065007" y="1463040"/>
            <a:ext cx="3520440" cy="658368"/>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73152" tIns="36576" bIns="36576"/>
          <a:lstStyle/>
          <a:p>
            <a:pPr algn="l">
              <a:lnSpc>
                <a:spcPct val="110000"/>
              </a:lnSpc>
            </a:pPr>
            <a:r>
              <a:rPr sz="1250" b="1">
                <a:solidFill>
                  <a:srgbClr val="92400E"/>
                </a:solidFill>
                <a:latin typeface="Segoe UI"/>
              </a:rPr>
              <a:t>PHASE 3</a:t>
            </a:r>
          </a:p>
          <a:p>
            <a:pPr algn="l">
              <a:lnSpc>
                <a:spcPct val="105000"/>
              </a:lnSpc>
              <a:spcBef>
                <a:spcPts val="200"/>
              </a:spcBef>
            </a:pPr>
            <a:r>
              <a:rPr sz="950">
                <a:solidFill>
                  <a:srgbClr val="475569"/>
                </a:solidFill>
                <a:latin typeface="Segoe UI"/>
              </a:rPr>
              <a:t>Long term vision</a:t>
            </a:r>
          </a:p>
        </p:txBody>
      </p:sp>
      <p:sp>
        <p:nvSpPr>
          <p:cNvPr id="16" name="TextBox 15"/>
          <p:cNvSpPr txBox="1"/>
          <p:nvPr/>
        </p:nvSpPr>
        <p:spPr>
          <a:xfrm>
            <a:off x="8302751" y="2304288"/>
            <a:ext cx="3063240" cy="2926080"/>
          </a:xfrm>
          <a:prstGeom prst="rect">
            <a:avLst/>
          </a:prstGeom>
          <a:noFill/>
        </p:spPr>
        <p:txBody>
          <a:bodyPr wrap="square" anchor="t" lIns="0" rIns="0" tIns="0" bIns="0">
            <a:spAutoFit/>
          </a:bodyPr>
          <a:lstStyle/>
          <a:p>
            <a:pPr marL="182880" indent="-182880">
              <a:lnSpc>
                <a:spcPct val="122000"/>
              </a:lnSpc>
              <a:spcAft>
                <a:spcPts val="1500"/>
              </a:spcAft>
              <a:buClr>
                <a:srgbClr val="92400E"/>
              </a:buClr>
              <a:buSzPct val="80000"/>
              <a:buFont typeface="Arial" pitchFamily="34" charset="0"/>
              <a:buChar char="▪"/>
            </a:pPr>
            <a:r>
              <a:rPr sz="1150" b="0">
                <a:solidFill>
                  <a:srgbClr val="475569"/>
                </a:solidFill>
                <a:latin typeface="Segoe UI"/>
              </a:rPr>
              <a:t>Emergency SOS with location sharing</a:t>
            </a:r>
          </a:p>
          <a:p>
            <a:pPr marL="182880" indent="-182880">
              <a:lnSpc>
                <a:spcPct val="122000"/>
              </a:lnSpc>
              <a:spcAft>
                <a:spcPts val="1500"/>
              </a:spcAft>
              <a:buClr>
                <a:srgbClr val="92400E"/>
              </a:buClr>
              <a:buSzPct val="80000"/>
              <a:buFont typeface="Arial" pitchFamily="34" charset="0"/>
              <a:buChar char="▪"/>
            </a:pPr>
            <a:r>
              <a:rPr sz="1150" b="0">
                <a:solidFill>
                  <a:srgbClr val="475569"/>
                </a:solidFill>
                <a:latin typeface="Segoe UI"/>
              </a:rPr>
              <a:t>Wearable device integration (vitals)</a:t>
            </a:r>
          </a:p>
          <a:p>
            <a:pPr marL="182880" indent="-182880">
              <a:lnSpc>
                <a:spcPct val="122000"/>
              </a:lnSpc>
              <a:spcAft>
                <a:spcPts val="1500"/>
              </a:spcAft>
              <a:buClr>
                <a:srgbClr val="92400E"/>
              </a:buClr>
              <a:buSzPct val="80000"/>
              <a:buFont typeface="Arial" pitchFamily="34" charset="0"/>
              <a:buChar char="▪"/>
            </a:pPr>
            <a:r>
              <a:rPr sz="1150" b="0">
                <a:solidFill>
                  <a:srgbClr val="475569"/>
                </a:solidFill>
                <a:latin typeface="Segoe UI"/>
              </a:rPr>
              <a:t>Extract AI layer into its own service</a:t>
            </a:r>
          </a:p>
          <a:p>
            <a:pPr marL="182880" indent="-182880">
              <a:lnSpc>
                <a:spcPct val="122000"/>
              </a:lnSpc>
              <a:spcAft>
                <a:spcPts val="1500"/>
              </a:spcAft>
              <a:buClr>
                <a:srgbClr val="92400E"/>
              </a:buClr>
              <a:buSzPct val="80000"/>
              <a:buFont typeface="Arial" pitchFamily="34" charset="0"/>
              <a:buChar char="▪"/>
            </a:pPr>
            <a:r>
              <a:rPr sz="1150" b="0">
                <a:solidFill>
                  <a:srgbClr val="475569"/>
                </a:solidFill>
                <a:latin typeface="Segoe UI"/>
              </a:rPr>
              <a:t>Event-driven core for real-time alerts</a:t>
            </a:r>
          </a:p>
          <a:p>
            <a:pPr marL="182880" indent="-182880">
              <a:lnSpc>
                <a:spcPct val="122000"/>
              </a:lnSpc>
              <a:spcAft>
                <a:spcPts val="1500"/>
              </a:spcAft>
              <a:buClr>
                <a:srgbClr val="92400E"/>
              </a:buClr>
              <a:buSzPct val="80000"/>
              <a:buFont typeface="Arial" pitchFamily="34" charset="0"/>
              <a:buChar char="▪"/>
            </a:pPr>
            <a:r>
              <a:rPr sz="1150" b="0">
                <a:solidFill>
                  <a:srgbClr val="475569"/>
                </a:solidFill>
                <a:latin typeface="Segoe UI"/>
              </a:rPr>
              <a:t>FHIR-compliant record exchange</a:t>
            </a:r>
          </a:p>
        </p:txBody>
      </p:sp>
      <p:sp>
        <p:nvSpPr>
          <p:cNvPr id="17" name="Rounded Rectangle 16"/>
          <p:cNvSpPr/>
          <p:nvPr/>
        </p:nvSpPr>
        <p:spPr>
          <a:xfrm>
            <a:off x="566928" y="5614416"/>
            <a:ext cx="11064240" cy="402336"/>
          </a:xfrm>
          <a:prstGeom prst="roundRect">
            <a:avLst>
              <a:gd name="adj" fmla="val 10000"/>
            </a:avLst>
          </a:prstGeom>
          <a:solidFill>
            <a:srgbClr val="ECFDF5"/>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100" b="0">
                <a:solidFill>
                  <a:srgbClr val="0F766E"/>
                </a:solidFill>
                <a:latin typeface="Segoe UI"/>
              </a:rPr>
              <a:t>None of these require re-architecting — the module seams (ADR-01) and the provider adapter (ADR-04) were chosen precisely to absorb this growth.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6928" y="420624"/>
            <a:ext cx="50292" cy="384048"/>
          </a:xfrm>
          <a:prstGeom prst="roundRect">
            <a:avLst>
              <a:gd name="adj" fmla="val 4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749808" y="365760"/>
            <a:ext cx="9601200" cy="219456"/>
          </a:xfrm>
          <a:prstGeom prst="rect">
            <a:avLst/>
          </a:prstGeom>
          <a:noFill/>
        </p:spPr>
        <p:txBody>
          <a:bodyPr wrap="square" anchor="t" lIns="0" rIns="0" tIns="0" bIns="0">
            <a:spAutoFit/>
          </a:bodyPr>
          <a:lstStyle/>
          <a:p>
            <a:pPr algn="l">
              <a:lnSpc>
                <a:spcPct val="125000"/>
              </a:lnSpc>
              <a:spcBef>
                <a:spcPts val="0"/>
              </a:spcBef>
              <a:spcAft>
                <a:spcPts val="0"/>
              </a:spcAft>
            </a:pPr>
            <a:r>
              <a:rPr sz="950" b="1" i="0">
                <a:solidFill>
                  <a:srgbClr val="0F766E"/>
                </a:solidFill>
                <a:latin typeface="Segoe UI"/>
              </a:rPr>
              <a:t>WORK SPLIT &amp; PRESENTATION ROLES</a:t>
            </a:r>
          </a:p>
        </p:txBody>
      </p:sp>
      <p:sp>
        <p:nvSpPr>
          <p:cNvPr id="4" name="TextBox 3"/>
          <p:cNvSpPr txBox="1"/>
          <p:nvPr/>
        </p:nvSpPr>
        <p:spPr>
          <a:xfrm>
            <a:off x="749808" y="566928"/>
            <a:ext cx="10607040" cy="566928"/>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0F172A"/>
                </a:solidFill>
                <a:latin typeface="Segoe UI"/>
              </a:rPr>
              <a:t>Team Responsibilities</a:t>
            </a:r>
          </a:p>
        </p:txBody>
      </p:sp>
      <p:sp>
        <p:nvSpPr>
          <p:cNvPr id="5" name="Rectangle 4"/>
          <p:cNvSpPr/>
          <p:nvPr/>
        </p:nvSpPr>
        <p:spPr>
          <a:xfrm>
            <a:off x="566928" y="6327648"/>
            <a:ext cx="1106424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19088"/>
            <a:ext cx="5486400" cy="219456"/>
          </a:xfrm>
          <a:prstGeom prst="rect">
            <a:avLst/>
          </a:prstGeom>
          <a:noFill/>
        </p:spPr>
        <p:txBody>
          <a:bodyPr wrap="square" anchor="t" lIns="0" rIns="0" tIns="0" bIns="0">
            <a:spAutoFit/>
          </a:bodyPr>
          <a:lstStyle/>
          <a:p>
            <a:pPr algn="l">
              <a:lnSpc>
                <a:spcPct val="125000"/>
              </a:lnSpc>
              <a:spcBef>
                <a:spcPts val="0"/>
              </a:spcBef>
              <a:spcAft>
                <a:spcPts val="0"/>
              </a:spcAft>
            </a:pPr>
            <a:r>
              <a:rPr sz="900" b="0" i="0">
                <a:solidFill>
                  <a:srgbClr val="94A3B8"/>
                </a:solidFill>
                <a:latin typeface="Segoe UI"/>
              </a:rPr>
              <a:t>MedIntel  ·  AI-Powered Medical Assistant</a:t>
            </a:r>
          </a:p>
        </p:txBody>
      </p:sp>
      <p:sp>
        <p:nvSpPr>
          <p:cNvPr id="7" name="TextBox 6"/>
          <p:cNvSpPr txBox="1"/>
          <p:nvPr/>
        </p:nvSpPr>
        <p:spPr>
          <a:xfrm>
            <a:off x="9784080" y="6419088"/>
            <a:ext cx="1847088" cy="219456"/>
          </a:xfrm>
          <a:prstGeom prst="rect">
            <a:avLst/>
          </a:prstGeom>
          <a:noFill/>
        </p:spPr>
        <p:txBody>
          <a:bodyPr wrap="square" anchor="t" lIns="0" rIns="0" tIns="0" bIns="0">
            <a:spAutoFit/>
          </a:bodyPr>
          <a:lstStyle/>
          <a:p>
            <a:pPr algn="r">
              <a:lnSpc>
                <a:spcPct val="125000"/>
              </a:lnSpc>
              <a:spcBef>
                <a:spcPts val="0"/>
              </a:spcBef>
              <a:spcAft>
                <a:spcPts val="0"/>
              </a:spcAft>
            </a:pPr>
            <a:r>
              <a:rPr sz="900" b="0" i="0">
                <a:solidFill>
                  <a:srgbClr val="94A3B8"/>
                </a:solidFill>
                <a:latin typeface="Segoe UI"/>
              </a:rPr>
              <a:t>20</a:t>
            </a:r>
          </a:p>
        </p:txBody>
      </p:sp>
      <p:sp>
        <p:nvSpPr>
          <p:cNvPr id="8" name="Rounded Rectangle 7"/>
          <p:cNvSpPr/>
          <p:nvPr/>
        </p:nvSpPr>
        <p:spPr>
          <a:xfrm>
            <a:off x="566928" y="1371600"/>
            <a:ext cx="11064240" cy="9144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ounded Rectangle 8"/>
          <p:cNvSpPr/>
          <p:nvPr/>
        </p:nvSpPr>
        <p:spPr>
          <a:xfrm>
            <a:off x="566928" y="1371600"/>
            <a:ext cx="45720" cy="914400"/>
          </a:xfrm>
          <a:prstGeom prst="roundRect">
            <a:avLst>
              <a:gd name="adj" fmla="val 4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Rounded Rectangle 9"/>
          <p:cNvSpPr/>
          <p:nvPr/>
        </p:nvSpPr>
        <p:spPr>
          <a:xfrm>
            <a:off x="841248" y="1645920"/>
            <a:ext cx="1234440" cy="365760"/>
          </a:xfrm>
          <a:prstGeom prst="roundRect">
            <a:avLst>
              <a:gd name="adj" fmla="val 20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00" b="1">
                <a:solidFill>
                  <a:srgbClr val="0F766E"/>
                </a:solidFill>
                <a:latin typeface="Segoe UI"/>
              </a:rPr>
              <a:t>MEMBER 1</a:t>
            </a:r>
          </a:p>
        </p:txBody>
      </p:sp>
      <p:sp>
        <p:nvSpPr>
          <p:cNvPr id="11" name="TextBox 10"/>
          <p:cNvSpPr txBox="1"/>
          <p:nvPr/>
        </p:nvSpPr>
        <p:spPr>
          <a:xfrm>
            <a:off x="2286000" y="1554480"/>
            <a:ext cx="6949440" cy="640080"/>
          </a:xfrm>
          <a:prstGeom prst="rect">
            <a:avLst/>
          </a:prstGeom>
          <a:noFill/>
        </p:spPr>
        <p:txBody>
          <a:bodyPr wrap="square" anchor="t" lIns="0" rIns="0" tIns="0" bIns="0">
            <a:spAutoFit/>
          </a:bodyPr>
          <a:lstStyle/>
          <a:p>
            <a:pPr algn="l">
              <a:lnSpc>
                <a:spcPct val="125000"/>
              </a:lnSpc>
              <a:spcBef>
                <a:spcPts val="0"/>
              </a:spcBef>
              <a:spcAft>
                <a:spcPts val="400"/>
              </a:spcAft>
            </a:pPr>
            <a:r>
              <a:rPr sz="1300" b="1" i="0">
                <a:solidFill>
                  <a:srgbClr val="0F172A"/>
                </a:solidFill>
                <a:latin typeface="Segoe UI"/>
              </a:rPr>
              <a:t>Project Overview &amp; Requirements</a:t>
            </a:r>
          </a:p>
          <a:p>
            <a:pPr algn="l">
              <a:lnSpc>
                <a:spcPct val="120000"/>
              </a:lnSpc>
              <a:spcBef>
                <a:spcPts val="0"/>
              </a:spcBef>
              <a:spcAft>
                <a:spcPts val="0"/>
              </a:spcAft>
            </a:pPr>
            <a:r>
              <a:rPr sz="1100" b="0" i="0">
                <a:solidFill>
                  <a:srgbClr val="475569"/>
                </a:solidFill>
                <a:latin typeface="Segoe UI"/>
              </a:rPr>
              <a:t>Problem framing, scope and safety boundary, module definition, requirement documentation.</a:t>
            </a:r>
          </a:p>
        </p:txBody>
      </p:sp>
      <p:sp>
        <p:nvSpPr>
          <p:cNvPr id="12" name="TextBox 11"/>
          <p:cNvSpPr txBox="1"/>
          <p:nvPr/>
        </p:nvSpPr>
        <p:spPr>
          <a:xfrm>
            <a:off x="9509760" y="1719072"/>
            <a:ext cx="1920240" cy="274320"/>
          </a:xfrm>
          <a:prstGeom prst="rect">
            <a:avLst/>
          </a:prstGeom>
          <a:noFill/>
        </p:spPr>
        <p:txBody>
          <a:bodyPr wrap="square" anchor="t" lIns="0" rIns="0" tIns="0" bIns="0">
            <a:spAutoFit/>
          </a:bodyPr>
          <a:lstStyle/>
          <a:p>
            <a:pPr algn="r">
              <a:lnSpc>
                <a:spcPct val="125000"/>
              </a:lnSpc>
              <a:spcBef>
                <a:spcPts val="0"/>
              </a:spcBef>
              <a:spcAft>
                <a:spcPts val="0"/>
              </a:spcAft>
            </a:pPr>
            <a:r>
              <a:rPr sz="1050" b="0" i="0">
                <a:solidFill>
                  <a:srgbClr val="94A3B8"/>
                </a:solidFill>
                <a:latin typeface="Segoe UI"/>
              </a:rPr>
              <a:t>Slides 1–4</a:t>
            </a:r>
          </a:p>
        </p:txBody>
      </p:sp>
      <p:sp>
        <p:nvSpPr>
          <p:cNvPr id="13" name="Rounded Rectangle 12"/>
          <p:cNvSpPr/>
          <p:nvPr/>
        </p:nvSpPr>
        <p:spPr>
          <a:xfrm>
            <a:off x="566928" y="2414015"/>
            <a:ext cx="11064240" cy="9144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Rounded Rectangle 13"/>
          <p:cNvSpPr/>
          <p:nvPr/>
        </p:nvSpPr>
        <p:spPr>
          <a:xfrm>
            <a:off x="566928" y="2414015"/>
            <a:ext cx="45720" cy="914400"/>
          </a:xfrm>
          <a:prstGeom prst="roundRect">
            <a:avLst>
              <a:gd name="adj" fmla="val 40000"/>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Rounded Rectangle 14"/>
          <p:cNvSpPr/>
          <p:nvPr/>
        </p:nvSpPr>
        <p:spPr>
          <a:xfrm>
            <a:off x="841248" y="2688335"/>
            <a:ext cx="1234440" cy="365760"/>
          </a:xfrm>
          <a:prstGeom prst="roundRect">
            <a:avLst>
              <a:gd name="adj" fmla="val 2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00" b="1">
                <a:solidFill>
                  <a:srgbClr val="4338CA"/>
                </a:solidFill>
                <a:latin typeface="Segoe UI"/>
              </a:rPr>
              <a:t>MEMBER 2</a:t>
            </a:r>
          </a:p>
        </p:txBody>
      </p:sp>
      <p:sp>
        <p:nvSpPr>
          <p:cNvPr id="16" name="TextBox 15"/>
          <p:cNvSpPr txBox="1"/>
          <p:nvPr/>
        </p:nvSpPr>
        <p:spPr>
          <a:xfrm>
            <a:off x="2286000" y="2596896"/>
            <a:ext cx="6949440" cy="640080"/>
          </a:xfrm>
          <a:prstGeom prst="rect">
            <a:avLst/>
          </a:prstGeom>
          <a:noFill/>
        </p:spPr>
        <p:txBody>
          <a:bodyPr wrap="square" anchor="t" lIns="0" rIns="0" tIns="0" bIns="0">
            <a:spAutoFit/>
          </a:bodyPr>
          <a:lstStyle/>
          <a:p>
            <a:pPr algn="l">
              <a:lnSpc>
                <a:spcPct val="125000"/>
              </a:lnSpc>
              <a:spcBef>
                <a:spcPts val="0"/>
              </a:spcBef>
              <a:spcAft>
                <a:spcPts val="400"/>
              </a:spcAft>
            </a:pPr>
            <a:r>
              <a:rPr sz="1300" b="1" i="0">
                <a:solidFill>
                  <a:srgbClr val="0F172A"/>
                </a:solidFill>
                <a:latin typeface="Segoe UI"/>
              </a:rPr>
              <a:t>Architecture &amp; Technology</a:t>
            </a:r>
          </a:p>
          <a:p>
            <a:pPr algn="l">
              <a:lnSpc>
                <a:spcPct val="120000"/>
              </a:lnSpc>
              <a:spcBef>
                <a:spcPts val="0"/>
              </a:spcBef>
              <a:spcAft>
                <a:spcPts val="0"/>
              </a:spcAft>
            </a:pPr>
            <a:r>
              <a:rPr sz="1100" b="0" i="0">
                <a:solidFill>
                  <a:srgbClr val="475569"/>
                </a:solidFill>
                <a:latin typeface="Segoe UI"/>
              </a:rPr>
              <a:t>Layered design, layer contracts, component view, stack justification, deployment view.</a:t>
            </a:r>
          </a:p>
        </p:txBody>
      </p:sp>
      <p:sp>
        <p:nvSpPr>
          <p:cNvPr id="17" name="TextBox 16"/>
          <p:cNvSpPr txBox="1"/>
          <p:nvPr/>
        </p:nvSpPr>
        <p:spPr>
          <a:xfrm>
            <a:off x="9509760" y="2761487"/>
            <a:ext cx="1920240" cy="274320"/>
          </a:xfrm>
          <a:prstGeom prst="rect">
            <a:avLst/>
          </a:prstGeom>
          <a:noFill/>
        </p:spPr>
        <p:txBody>
          <a:bodyPr wrap="square" anchor="t" lIns="0" rIns="0" tIns="0" bIns="0">
            <a:spAutoFit/>
          </a:bodyPr>
          <a:lstStyle/>
          <a:p>
            <a:pPr algn="r">
              <a:lnSpc>
                <a:spcPct val="125000"/>
              </a:lnSpc>
              <a:spcBef>
                <a:spcPts val="0"/>
              </a:spcBef>
              <a:spcAft>
                <a:spcPts val="0"/>
              </a:spcAft>
            </a:pPr>
            <a:r>
              <a:rPr sz="1050" b="0" i="0">
                <a:solidFill>
                  <a:srgbClr val="94A3B8"/>
                </a:solidFill>
                <a:latin typeface="Segoe UI"/>
              </a:rPr>
              <a:t>Slides 5–8, 17</a:t>
            </a:r>
          </a:p>
        </p:txBody>
      </p:sp>
      <p:sp>
        <p:nvSpPr>
          <p:cNvPr id="18" name="Rounded Rectangle 17"/>
          <p:cNvSpPr/>
          <p:nvPr/>
        </p:nvSpPr>
        <p:spPr>
          <a:xfrm>
            <a:off x="566928" y="3456432"/>
            <a:ext cx="11064240" cy="9144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Rounded Rectangle 18"/>
          <p:cNvSpPr/>
          <p:nvPr/>
        </p:nvSpPr>
        <p:spPr>
          <a:xfrm>
            <a:off x="566928" y="3456432"/>
            <a:ext cx="45720" cy="914400"/>
          </a:xfrm>
          <a:prstGeom prst="roundRect">
            <a:avLst>
              <a:gd name="adj" fmla="val 4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Rounded Rectangle 19"/>
          <p:cNvSpPr/>
          <p:nvPr/>
        </p:nvSpPr>
        <p:spPr>
          <a:xfrm>
            <a:off x="841248" y="3730752"/>
            <a:ext cx="1234440" cy="365760"/>
          </a:xfrm>
          <a:prstGeom prst="roundRect">
            <a:avLst>
              <a:gd name="adj" fmla="val 2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00" b="1">
                <a:solidFill>
                  <a:srgbClr val="15803D"/>
                </a:solidFill>
                <a:latin typeface="Segoe UI"/>
              </a:rPr>
              <a:t>MEMBER 3</a:t>
            </a:r>
          </a:p>
        </p:txBody>
      </p:sp>
      <p:sp>
        <p:nvSpPr>
          <p:cNvPr id="21" name="TextBox 20"/>
          <p:cNvSpPr txBox="1"/>
          <p:nvPr/>
        </p:nvSpPr>
        <p:spPr>
          <a:xfrm>
            <a:off x="2286000" y="3639312"/>
            <a:ext cx="6949440" cy="640080"/>
          </a:xfrm>
          <a:prstGeom prst="rect">
            <a:avLst/>
          </a:prstGeom>
          <a:noFill/>
        </p:spPr>
        <p:txBody>
          <a:bodyPr wrap="square" anchor="t" lIns="0" rIns="0" tIns="0" bIns="0">
            <a:spAutoFit/>
          </a:bodyPr>
          <a:lstStyle/>
          <a:p>
            <a:pPr algn="l">
              <a:lnSpc>
                <a:spcPct val="125000"/>
              </a:lnSpc>
              <a:spcBef>
                <a:spcPts val="0"/>
              </a:spcBef>
              <a:spcAft>
                <a:spcPts val="400"/>
              </a:spcAft>
            </a:pPr>
            <a:r>
              <a:rPr sz="1300" b="1" i="0">
                <a:solidFill>
                  <a:srgbClr val="0F172A"/>
                </a:solidFill>
                <a:latin typeface="Segoe UI"/>
              </a:rPr>
              <a:t>Workflow, AI Pipeline &amp; Data</a:t>
            </a:r>
          </a:p>
          <a:p>
            <a:pPr algn="l">
              <a:lnSpc>
                <a:spcPct val="120000"/>
              </a:lnSpc>
              <a:spcBef>
                <a:spcPts val="0"/>
              </a:spcBef>
              <a:spcAft>
                <a:spcPts val="0"/>
              </a:spcAft>
            </a:pPr>
            <a:r>
              <a:rPr sz="1100" b="0" i="0">
                <a:solidFill>
                  <a:srgbClr val="475569"/>
                </a:solidFill>
                <a:latin typeface="Segoe UI"/>
              </a:rPr>
              <a:t>Runtime flow, AI safety pipeline, data model, REST API contract.</a:t>
            </a:r>
          </a:p>
        </p:txBody>
      </p:sp>
      <p:sp>
        <p:nvSpPr>
          <p:cNvPr id="22" name="TextBox 21"/>
          <p:cNvSpPr txBox="1"/>
          <p:nvPr/>
        </p:nvSpPr>
        <p:spPr>
          <a:xfrm>
            <a:off x="9509760" y="3803904"/>
            <a:ext cx="1920240" cy="274320"/>
          </a:xfrm>
          <a:prstGeom prst="rect">
            <a:avLst/>
          </a:prstGeom>
          <a:noFill/>
        </p:spPr>
        <p:txBody>
          <a:bodyPr wrap="square" anchor="t" lIns="0" rIns="0" tIns="0" bIns="0">
            <a:spAutoFit/>
          </a:bodyPr>
          <a:lstStyle/>
          <a:p>
            <a:pPr algn="r">
              <a:lnSpc>
                <a:spcPct val="125000"/>
              </a:lnSpc>
              <a:spcBef>
                <a:spcPts val="0"/>
              </a:spcBef>
              <a:spcAft>
                <a:spcPts val="0"/>
              </a:spcAft>
            </a:pPr>
            <a:r>
              <a:rPr sz="1050" b="0" i="0">
                <a:solidFill>
                  <a:srgbClr val="94A3B8"/>
                </a:solidFill>
                <a:latin typeface="Segoe UI"/>
              </a:rPr>
              <a:t>Slides 9–12</a:t>
            </a:r>
          </a:p>
        </p:txBody>
      </p:sp>
      <p:sp>
        <p:nvSpPr>
          <p:cNvPr id="23" name="Rounded Rectangle 22"/>
          <p:cNvSpPr/>
          <p:nvPr/>
        </p:nvSpPr>
        <p:spPr>
          <a:xfrm>
            <a:off x="566928" y="4498848"/>
            <a:ext cx="11064240" cy="9144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Rounded Rectangle 23"/>
          <p:cNvSpPr/>
          <p:nvPr/>
        </p:nvSpPr>
        <p:spPr>
          <a:xfrm>
            <a:off x="566928" y="4498848"/>
            <a:ext cx="45720" cy="914400"/>
          </a:xfrm>
          <a:prstGeom prst="roundRect">
            <a:avLst>
              <a:gd name="adj" fmla="val 40000"/>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Rounded Rectangle 24"/>
          <p:cNvSpPr/>
          <p:nvPr/>
        </p:nvSpPr>
        <p:spPr>
          <a:xfrm>
            <a:off x="841248" y="4773168"/>
            <a:ext cx="1234440" cy="365760"/>
          </a:xfrm>
          <a:prstGeom prst="roundRect">
            <a:avLst>
              <a:gd name="adj" fmla="val 2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000" b="1">
                <a:solidFill>
                  <a:srgbClr val="92400E"/>
                </a:solidFill>
                <a:latin typeface="Segoe UI"/>
              </a:rPr>
              <a:t>MEMBER 4</a:t>
            </a:r>
          </a:p>
        </p:txBody>
      </p:sp>
      <p:sp>
        <p:nvSpPr>
          <p:cNvPr id="26" name="TextBox 25"/>
          <p:cNvSpPr txBox="1"/>
          <p:nvPr/>
        </p:nvSpPr>
        <p:spPr>
          <a:xfrm>
            <a:off x="2286000" y="4681728"/>
            <a:ext cx="6949440" cy="640080"/>
          </a:xfrm>
          <a:prstGeom prst="rect">
            <a:avLst/>
          </a:prstGeom>
          <a:noFill/>
        </p:spPr>
        <p:txBody>
          <a:bodyPr wrap="square" anchor="t" lIns="0" rIns="0" tIns="0" bIns="0">
            <a:spAutoFit/>
          </a:bodyPr>
          <a:lstStyle/>
          <a:p>
            <a:pPr algn="l">
              <a:lnSpc>
                <a:spcPct val="125000"/>
              </a:lnSpc>
              <a:spcBef>
                <a:spcPts val="0"/>
              </a:spcBef>
              <a:spcAft>
                <a:spcPts val="400"/>
              </a:spcAft>
            </a:pPr>
            <a:r>
              <a:rPr sz="1300" b="1" i="0">
                <a:solidFill>
                  <a:srgbClr val="0F172A"/>
                </a:solidFill>
                <a:latin typeface="Segoe UI"/>
              </a:rPr>
              <a:t>Decisions, Quality &amp; Risk</a:t>
            </a:r>
          </a:p>
          <a:p>
            <a:pPr algn="l">
              <a:lnSpc>
                <a:spcPct val="120000"/>
              </a:lnSpc>
              <a:spcBef>
                <a:spcPts val="0"/>
              </a:spcBef>
              <a:spcAft>
                <a:spcPts val="0"/>
              </a:spcAft>
            </a:pPr>
            <a:r>
              <a:rPr sz="1100" b="0" i="0">
                <a:solidFill>
                  <a:srgbClr val="475569"/>
                </a:solidFill>
                <a:latin typeface="Segoe UI"/>
              </a:rPr>
              <a:t>ADR log, quality attributes and tactics, design patterns, security, risks, roadmap.</a:t>
            </a:r>
          </a:p>
        </p:txBody>
      </p:sp>
      <p:sp>
        <p:nvSpPr>
          <p:cNvPr id="27" name="TextBox 26"/>
          <p:cNvSpPr txBox="1"/>
          <p:nvPr/>
        </p:nvSpPr>
        <p:spPr>
          <a:xfrm>
            <a:off x="9509760" y="4846320"/>
            <a:ext cx="1920240" cy="274320"/>
          </a:xfrm>
          <a:prstGeom prst="rect">
            <a:avLst/>
          </a:prstGeom>
          <a:noFill/>
        </p:spPr>
        <p:txBody>
          <a:bodyPr wrap="square" anchor="t" lIns="0" rIns="0" tIns="0" bIns="0">
            <a:spAutoFit/>
          </a:bodyPr>
          <a:lstStyle/>
          <a:p>
            <a:pPr algn="r">
              <a:lnSpc>
                <a:spcPct val="125000"/>
              </a:lnSpc>
              <a:spcBef>
                <a:spcPts val="0"/>
              </a:spcBef>
              <a:spcAft>
                <a:spcPts val="0"/>
              </a:spcAft>
            </a:pPr>
            <a:r>
              <a:rPr sz="1050" b="0" i="0">
                <a:solidFill>
                  <a:srgbClr val="94A3B8"/>
                </a:solidFill>
                <a:latin typeface="Segoe UI"/>
              </a:rPr>
              <a:t>Slides 13–16, 18–19</a:t>
            </a:r>
          </a:p>
        </p:txBody>
      </p:sp>
      <p:sp>
        <p:nvSpPr>
          <p:cNvPr id="28" name="Rounded Rectangle 27"/>
          <p:cNvSpPr/>
          <p:nvPr/>
        </p:nvSpPr>
        <p:spPr>
          <a:xfrm>
            <a:off x="566928" y="5614416"/>
            <a:ext cx="11064240" cy="603504"/>
          </a:xfrm>
          <a:prstGeom prst="roundRect">
            <a:avLst>
              <a:gd name="adj" fmla="val 10000"/>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50" b="0">
                <a:solidFill>
                  <a:srgbClr val="CCFBF1"/>
                </a:solidFill>
                <a:latin typeface="Segoe UI"/>
              </a:rPr>
              <a:t>MedIntel makes healthcare guidance faster and better organised — while keeping the clinician, not the algorithm, in charge of the diagnosis.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34E4A"/>
        </a:solidFill>
        <a:effectLst/>
      </p:bgPr>
    </p:bg>
    <p:spTree>
      <p:nvGrpSpPr>
        <p:cNvPr id="1" name=""/>
        <p:cNvGrpSpPr/>
        <p:nvPr/>
      </p:nvGrpSpPr>
      <p:grpSpPr/>
      <p:sp>
        <p:nvSpPr>
          <p:cNvPr id="2" name="Oval 1"/>
          <p:cNvSpPr/>
          <p:nvPr/>
        </p:nvSpPr>
        <p:spPr>
          <a:xfrm>
            <a:off x="9144000" y="-1097280"/>
            <a:ext cx="4389120" cy="4389120"/>
          </a:xfrm>
          <a:prstGeom prst="ellipse">
            <a:avLst/>
          </a:prstGeom>
          <a:solidFill>
            <a:srgbClr val="115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Oval 2"/>
          <p:cNvSpPr/>
          <p:nvPr/>
        </p:nvSpPr>
        <p:spPr>
          <a:xfrm>
            <a:off x="-914400" y="4389120"/>
            <a:ext cx="3291840" cy="3291840"/>
          </a:xfrm>
          <a:prstGeom prst="ellipse">
            <a:avLst/>
          </a:prstGeom>
          <a:solidFill>
            <a:srgbClr val="0E57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914400" y="2514600"/>
            <a:ext cx="10058400" cy="1097280"/>
          </a:xfrm>
          <a:prstGeom prst="rect">
            <a:avLst/>
          </a:prstGeom>
          <a:noFill/>
        </p:spPr>
        <p:txBody>
          <a:bodyPr wrap="square" anchor="t" lIns="0" rIns="0" tIns="0" bIns="0">
            <a:spAutoFit/>
          </a:bodyPr>
          <a:lstStyle/>
          <a:p>
            <a:pPr algn="l">
              <a:lnSpc>
                <a:spcPct val="100000"/>
              </a:lnSpc>
              <a:spcBef>
                <a:spcPts val="0"/>
              </a:spcBef>
              <a:spcAft>
                <a:spcPts val="1000"/>
              </a:spcAft>
            </a:pPr>
            <a:r>
              <a:rPr sz="5200" b="1" i="0">
                <a:solidFill>
                  <a:srgbClr val="FFFFFF"/>
                </a:solidFill>
                <a:latin typeface="Segoe UI"/>
              </a:rPr>
              <a:t>Thank You</a:t>
            </a:r>
          </a:p>
          <a:p>
            <a:pPr algn="l">
              <a:lnSpc>
                <a:spcPct val="125000"/>
              </a:lnSpc>
              <a:spcBef>
                <a:spcPts val="0"/>
              </a:spcBef>
              <a:spcAft>
                <a:spcPts val="0"/>
              </a:spcAft>
            </a:pPr>
            <a:r>
              <a:rPr sz="1700" b="0" i="0">
                <a:solidFill>
                  <a:srgbClr val="CCFBF1"/>
                </a:solidFill>
                <a:latin typeface="Segoe UI"/>
              </a:rPr>
              <a:t>Questions and feedback welcome.</a:t>
            </a:r>
          </a:p>
        </p:txBody>
      </p:sp>
      <p:sp>
        <p:nvSpPr>
          <p:cNvPr id="5" name="Rectangle 4"/>
          <p:cNvSpPr/>
          <p:nvPr/>
        </p:nvSpPr>
        <p:spPr>
          <a:xfrm>
            <a:off x="914400" y="4114800"/>
            <a:ext cx="1371600" cy="320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14400" y="4434840"/>
            <a:ext cx="10058400" cy="365760"/>
          </a:xfrm>
          <a:prstGeom prst="rect">
            <a:avLst/>
          </a:prstGeom>
          <a:noFill/>
        </p:spPr>
        <p:txBody>
          <a:bodyPr wrap="square" anchor="t" lIns="0" rIns="0" tIns="0" bIns="0">
            <a:spAutoFit/>
          </a:bodyPr>
          <a:lstStyle/>
          <a:p>
            <a:pPr algn="l">
              <a:lnSpc>
                <a:spcPct val="125000"/>
              </a:lnSpc>
              <a:spcBef>
                <a:spcPts val="0"/>
              </a:spcBef>
              <a:spcAft>
                <a:spcPts val="0"/>
              </a:spcAft>
            </a:pPr>
            <a:r>
              <a:rPr sz="1200" b="0" i="0">
                <a:solidFill>
                  <a:srgbClr val="7FD1C6"/>
                </a:solidFill>
                <a:latin typeface="Segoe UI"/>
              </a:rPr>
              <a:t>MedIntel  ·  Software Architecture, Semester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